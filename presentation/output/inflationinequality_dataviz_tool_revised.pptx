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6a2101e784f74" /><Relationship Type="http://schemas.openxmlformats.org/officeDocument/2006/relationships/extended-properties" Target="/docProps/app.xml" Id="R3fffc9dc7ef8497b" /><Relationship Type="http://schemas.openxmlformats.org/officeDocument/2006/relationships/officeDocument" Target="/ppt/presentation.xml" Id="R0a44cd64a2f5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e697e276b4431"/>
  </p:sldMasterIdLst>
  <p:notesMasterIdLst>
    <p:notesMasterId xmlns:r="http://schemas.openxmlformats.org/officeDocument/2006/relationships" r:id="R26e39cd677fe44dd"/>
  </p:notesMasterIdLst>
  <p:sldIdLst>
    <p:sldId xmlns:r="http://schemas.openxmlformats.org/officeDocument/2006/relationships" id="256" r:id="R628df9aa7d4e420f"/>
    <p:sldId xmlns:r="http://schemas.openxmlformats.org/officeDocument/2006/relationships" id="257" r:id="R7465f5ceb6fc4517"/>
    <p:sldId xmlns:r="http://schemas.openxmlformats.org/officeDocument/2006/relationships" id="258" r:id="R8028f5c8329a456c"/>
    <p:sldId xmlns:r="http://schemas.openxmlformats.org/officeDocument/2006/relationships" id="259" r:id="Re976c97b2dc248e3"/>
    <p:sldId xmlns:r="http://schemas.openxmlformats.org/officeDocument/2006/relationships" id="260" r:id="R8d71cb3c877c49bf"/>
    <p:sldId xmlns:r="http://schemas.openxmlformats.org/officeDocument/2006/relationships" id="261" r:id="R4e2a6bdabc094746"/>
    <p:sldId xmlns:r="http://schemas.openxmlformats.org/officeDocument/2006/relationships" id="262" r:id="R28da0ade800b4b3b"/>
    <p:sldId xmlns:r="http://schemas.openxmlformats.org/officeDocument/2006/relationships" id="263" r:id="R44426d81a7104cb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e697e276b4431" /><Relationship Type="http://schemas.openxmlformats.org/officeDocument/2006/relationships/theme" Target="/ppt/theme/theme1.xml" Id="Rd0d3c696a85f4f91" /><Relationship Type="http://schemas.openxmlformats.org/officeDocument/2006/relationships/notesMaster" Target="/ppt/notesMasters/notesMaster1.xml" Id="R26e39cd677fe44dd" /><Relationship Type="http://schemas.openxmlformats.org/officeDocument/2006/relationships/presProps" Target="/ppt/presProps.xml" Id="R78bca8f6ddeb4a73" /><Relationship Type="http://schemas.openxmlformats.org/officeDocument/2006/relationships/viewProps" Target="/ppt/viewProps.xml" Id="R20f6056384c6416b" /><Relationship Type="http://schemas.openxmlformats.org/officeDocument/2006/relationships/tableStyles" Target="/ppt/tableStyles.xml" Id="R1d2d0df513fc49dc" /><Relationship Type="http://schemas.openxmlformats.org/officeDocument/2006/relationships/slide" Target="/ppt/slides/slide1.xml" Id="R628df9aa7d4e420f" /><Relationship Type="http://schemas.openxmlformats.org/officeDocument/2006/relationships/slide" Target="/ppt/slides/slide2.xml" Id="R7465f5ceb6fc4517" /><Relationship Type="http://schemas.openxmlformats.org/officeDocument/2006/relationships/slide" Target="/ppt/slides/slide3.xml" Id="R8028f5c8329a456c" /><Relationship Type="http://schemas.openxmlformats.org/officeDocument/2006/relationships/slide" Target="/ppt/slides/slide4.xml" Id="Re976c97b2dc248e3" /><Relationship Type="http://schemas.openxmlformats.org/officeDocument/2006/relationships/slide" Target="/ppt/slides/slide5.xml" Id="R8d71cb3c877c49bf" /><Relationship Type="http://schemas.openxmlformats.org/officeDocument/2006/relationships/slide" Target="/ppt/slides/slide6.xml" Id="R4e2a6bdabc094746" /><Relationship Type="http://schemas.openxmlformats.org/officeDocument/2006/relationships/slide" Target="/ppt/slides/slide7.xml" Id="R28da0ade800b4b3b" /><Relationship Type="http://schemas.openxmlformats.org/officeDocument/2006/relationships/slide" Target="/ppt/slides/slide8.xml" Id="R44426d81a7104c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62f0bce1e6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0d06bb4e941fb" /><Relationship Type="http://schemas.openxmlformats.org/officeDocument/2006/relationships/notesMaster" Target="/ppt/notesMasters/notesMaster1.xml" Id="R8bd9402e99f3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9f9349d0bc4837" /><Relationship Type="http://schemas.openxmlformats.org/officeDocument/2006/relationships/notesMaster" Target="/ppt/notesMasters/notesMaster1.xml" Id="Rb1c7a1928949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8ade631e3044d8" /><Relationship Type="http://schemas.openxmlformats.org/officeDocument/2006/relationships/notesMaster" Target="/ppt/notesMasters/notesMaster1.xml" Id="Rfe447a122e05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7ec124e9245e3" /><Relationship Type="http://schemas.openxmlformats.org/officeDocument/2006/relationships/notesMaster" Target="/ppt/notesMasters/notesMaster1.xml" Id="Rbe1751ed151c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e2aedf8ac4892" /><Relationship Type="http://schemas.openxmlformats.org/officeDocument/2006/relationships/notesMaster" Target="/ppt/notesMasters/notesMaster1.xml" Id="Rf8d33950cc52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c29ab2cf3745dd" /><Relationship Type="http://schemas.openxmlformats.org/officeDocument/2006/relationships/notesMaster" Target="/ppt/notesMasters/notesMaster1.xml" Id="Rb544ba3c181340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4d4e33f594037" /><Relationship Type="http://schemas.openxmlformats.org/officeDocument/2006/relationships/notesMaster" Target="/ppt/notesMasters/notesMaster1.xml" Id="R6c96ee8486db42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a246ebb39f42e5" /><Relationship Type="http://schemas.openxmlformats.org/officeDocument/2006/relationships/notesMaster" Target="/ppt/notesMasters/notesMaster1.xml" Id="Rb101049ee0ed44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1865aef804f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102f9862fd415d" /><Relationship Type="http://schemas.openxmlformats.org/officeDocument/2006/relationships/slideLayout" Target="/ppt/slideLayouts/slideLayout2.xml" Id="R148515af15f74b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515af15f74b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d029b802e4cd6" /><Relationship Type="http://schemas.openxmlformats.org/officeDocument/2006/relationships/notesSlide" Target="/ppt/notesSlides/notesSlide1.xml" Id="Re96ab21e728c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9cf7e2a144b2e" /><Relationship Type="http://schemas.openxmlformats.org/officeDocument/2006/relationships/notesSlide" Target="/ppt/notesSlides/notesSlide2.xml" Id="R083289079c10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8d550bbced440a" /><Relationship Type="http://schemas.openxmlformats.org/officeDocument/2006/relationships/notesSlide" Target="/ppt/notesSlides/notesSlide3.xml" Id="R9239b0caaa2d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2f7b45997e41b9" /><Relationship Type="http://schemas.openxmlformats.org/officeDocument/2006/relationships/notesSlide" Target="/ppt/notesSlides/notesSlide4.xml" Id="R4e826259472b47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e2a4945d1448d" /><Relationship Type="http://schemas.openxmlformats.org/officeDocument/2006/relationships/image" Target="/ppt/media/image.png" Id="R2d946e842fdd4e01" /><Relationship Type="http://schemas.openxmlformats.org/officeDocument/2006/relationships/notesSlide" Target="/ppt/notesSlides/notesSlide5.xml" Id="R8678f2f68d7b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742873ae94ca8" /><Relationship Type="http://schemas.openxmlformats.org/officeDocument/2006/relationships/image" Target="/ppt/media/image2.png" Id="R65c1495d08a04833" /><Relationship Type="http://schemas.openxmlformats.org/officeDocument/2006/relationships/notesSlide" Target="/ppt/notesSlides/notesSlide6.xml" Id="R96447589f33242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acb1fc2d1548a3" /><Relationship Type="http://schemas.openxmlformats.org/officeDocument/2006/relationships/image" Target="/ppt/media/image3.png" Id="Re9b7c25e69814921" /><Relationship Type="http://schemas.openxmlformats.org/officeDocument/2006/relationships/notesSlide" Target="/ppt/notesSlides/notesSlide7.xml" Id="Rd67d3320f32b43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6cadb7e0974af8" /><Relationship Type="http://schemas.openxmlformats.org/officeDocument/2006/relationships/image" Target="/ppt/media/image4.png" Id="Rbab66a763fc8427e" /><Relationship Type="http://schemas.openxmlformats.org/officeDocument/2006/relationships/notesSlide" Target="/ppt/notesSlides/notesSlide8.xml" Id="Rf594bf583e9c47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6954C-D477-4FF2-AE6F-AC41B8C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35D83-DD05-480E-B6FE-270CC807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359BA-7DE1-4A31-B3E3-07675F97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>
            <a:solidFill>
              <a:srgbClr val="F6F8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23205-4507-470C-9842-E374CFE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0FDAB-C95D-48C1-A959-D2E8527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7630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998B"/>
                </a:solidFill>
              </a:defRPr>
            </a:pPr>
            <a:r>
              <a:rPr sz="1500" b="1">
                <a:solidFill>
                  <a:srgbClr val="1B998B"/>
                </a:solidFill>
              </a:rPr>
              <a:t>INFLATIONINEQUALITY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33834-DB17-4E2C-9712-161F6220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92202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202B"/>
                </a:solidFill>
              </a:defRPr>
            </a:pPr>
            <a:r>
              <a:rPr sz="5700" b="1">
                <a:solidFill>
                  <a:srgbClr val="15202B"/>
                </a:solidFill>
              </a:rPr>
              <a:t>Voir l'inflation que la moyenne ne montre 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935C-1557-4CEC-B80D-E26EE015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880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16B"/>
                </a:solidFill>
              </a:defRPr>
            </a:pPr>
            <a:r>
              <a:rPr sz="2325" b="0">
                <a:solidFill>
                  <a:srgbClr val="52616B"/>
                </a:solidFill>
              </a:rPr>
              <a:t>Un package R pour produire rapidement des datavisualisations publiques, reproductibles et mises à jour à faible coût.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56DAB-590C-437A-8930-DF8D451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C5B5AD66-AA98-44D9-B733-8B382F4B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872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Données publiques : IPC, HBS et pondérations de consommation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FF7ED-FF17-424F-BD76-E089ABDD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81E8AEF8-D048-44CC-B6A2-A741389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872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Code disponible sur GitHub, donc vérifiable et réutilisable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90D17-B7A5-4011-B5E6-A88C702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3A1EA02-93DC-400B-8986-D1FDEB4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872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Format pensé pour des présentations publiques, policy ou recherche</a:t>
            </a:r>
          </a:p>
        </p:txBody>
      </p:sp>
    </p:spTree>
    <p:extLst>
      <p:ext uri="{BB962C8B-B14F-4D97-AF65-F5344CB8AC3E}">
        <p14:creationId xmlns:p14="http://schemas.microsoft.com/office/powerpoint/2010/main" val="1866086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84A4C-4619-41D3-924E-A20A0B27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4BD92-D37B-420A-9F70-F6C73FE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"/>
            <a:ext cx="1600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POURQUOI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E8785-7591-41EF-8891-793E5F30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"/>
            <a:ext cx="11315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L'inflation moyenne ne raconte pas toute l'histoire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724B-3383-4AD6-B054-E697993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666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Un même choc de prix ne touche pas les ménages de la même façon.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73E45-3B7F-43FD-B60E-A2AB98E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5676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202B"/>
                </a:solidFill>
              </a:defRPr>
            </a:pPr>
            <a:r>
              <a:rPr sz="3900" b="1">
                <a:solidFill>
                  <a:srgbClr val="15202B"/>
                </a:solidFill>
              </a:rPr>
              <a:t>Même choc de prix, paniers différents.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46CE7-3EA1-4ABA-B635-34D0FA7E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43700"/>
            <a:ext cx="5467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B"/>
                </a:solidFill>
              </a:defRPr>
            </a:pPr>
            <a:r>
              <a:rPr sz="2250" b="0">
                <a:solidFill>
                  <a:srgbClr val="52616B"/>
                </a:solidFill>
              </a:rPr>
              <a:t>L'outil transforme cette intuition en graphiques simples, mensuels et comparables.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28827-1323-4C45-AC47-D6A7160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9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7E27E145-65D4-4FF8-8AB0-0B016B2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95950"/>
            <a:ext cx="9163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Les paniers de consommation varient selon les ménages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67CBD-F6F4-4AAF-98D6-5690F46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19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E0511242-91BA-4261-8F2E-F3D3E47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91250"/>
            <a:ext cx="9163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Les écarts deviennent visibles quand les prix bougent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910A0-DA94-42D3-87AF-AC49AE55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66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AF0880E0-A044-4972-8F7D-8BDFC20D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667500"/>
            <a:ext cx="9163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La datavisualisation aide à raconter le phénomène sans jargon</a:t>
            </a:r>
          </a:p>
        </p:txBody>
      </p:sp>
    </p:spTree>
    <p:extLst>
      <p:ext uri="{BB962C8B-B14F-4D97-AF65-F5344CB8AC3E}">
        <p14:creationId xmlns:p14="http://schemas.microsoft.com/office/powerpoint/2010/main" val="6891036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4689EF-0004-4156-9216-A5A1E02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EE6C-FC2D-4254-A584-8382976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L'OUTIL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F1628-282B-4876-8497-B9BB041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04900"/>
            <a:ext cx="128016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Un package R pour passer vite des données au graphique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3977D-A4C4-45B8-8994-526C720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834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L'objectif est de rendre la mise à jour plus simple, pas d'ajouter une couche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96E10-D83C-4FDC-9F54-2751B57B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E7D0A-993F-48D2-B761-7415992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B998B"/>
                </a:solidFill>
              </a:defRPr>
            </a:pPr>
            <a:r>
              <a:rPr sz="4350" b="1">
                <a:solidFill>
                  <a:srgbClr val="1B998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8098F-5B6A-4EDE-8B85-B32FB1CA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674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Télécharger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AF2DF-9C1D-4F44-9754-4D9A748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961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Les données publiques de prix et de consommation.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CA0DE-73C7-4A4E-8344-ED014A0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6240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0EC6D-E951-4B9B-AB2B-214320FA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A541"/>
                </a:solidFill>
              </a:defRPr>
            </a:pPr>
            <a:r>
              <a:rPr sz="4350" b="1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22F05-8DF3-460F-8586-A711363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2674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Assembler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EF98C-F413-4B3D-91CC-A2D4B73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8961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Un panier d'inflation par groupe de ménages.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0238D-26F7-4A82-AD14-FA6E206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6240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04F51-2738-4F67-9F72-E4C1AFA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9115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B5BA5"/>
                </a:solidFill>
              </a:defRPr>
            </a:pPr>
            <a:r>
              <a:rPr sz="4350" b="1">
                <a:solidFill>
                  <a:srgbClr val="3B5BA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0DA09-9B19-48AA-8FC3-DA34B96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674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Visualiser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E4B80-8C33-4DAF-8649-3FCAA1A9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8961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Des graphiques lisibles et prêts à mettre à jour.</a:t>
            </a:r>
          </a:p>
        </p:txBody>
      </p:sp>
    </p:spTree>
    <p:extLst>
      <p:ext uri="{BB962C8B-B14F-4D97-AF65-F5344CB8AC3E}">
        <p14:creationId xmlns:p14="http://schemas.microsoft.com/office/powerpoint/2010/main" val="611262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46B7D-556B-46BA-AB6F-6975C64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7D31C-3500-4625-BCD8-45AB7184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1596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MISE À JOUR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AA179-74AF-4DB2-A76B-5DFF37A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967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De l'analyse ponctuelle à l'outil réutilisable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7B12-4EAE-4D8B-82AA-656FE23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Le coût de mise à jour baisse fortement quand la chaîne est automatisée.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5733A-42D4-4BB5-8614-2257ECBC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50292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202B"/>
                </a:solidFill>
              </a:defRPr>
            </a:pPr>
            <a:r>
              <a:rPr sz="3900" b="1">
                <a:solidFill>
                  <a:srgbClr val="15202B"/>
                </a:solidFill>
              </a:rPr>
              <a:t>Le vrai gain : refaire vite, proprement, souvent.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04638-57F2-40A5-AC02-4956243D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77050"/>
            <a:ext cx="6305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B"/>
                </a:solidFill>
              </a:defRPr>
            </a:pPr>
            <a:r>
              <a:rPr sz="2250" b="0">
                <a:solidFill>
                  <a:srgbClr val="52616B"/>
                </a:solidFill>
              </a:rPr>
              <a:t>Le package transforme un exercice lourd en routine de suivi.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9280F-FB78-4F99-8BD4-15A03943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6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18332C23-B67E-40E2-BEE6-99CBFB2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6260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Reproductible : mêmes sources, mêmes choix, mêmes sorties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A07AF-C963-487A-8EA3-589133C2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5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34745C7-F52A-4B18-B282-A22C6D78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05790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Actualisable : les prix mensuels peuvent être intégrés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3222E-7B94-42C3-A2F0-6CAEC67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ACA52DE-6930-405A-91C6-A43BA212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53415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Peu coûteux : une relance de script remplace un travail manuel</a:t>
            </a:r>
          </a:p>
        </p:txBody>
      </p:sp>
    </p:spTree>
    <p:extLst>
      <p:ext uri="{BB962C8B-B14F-4D97-AF65-F5344CB8AC3E}">
        <p14:creationId xmlns:p14="http://schemas.microsoft.com/office/powerpoint/2010/main" val="14680540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14202-AF44-45A3-9D02-E1CBA03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11C74-50D6-40BA-86B9-1B0BEE4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REVENU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1295A-EEAA-449E-9C1E-AC62CDFD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58864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Inflation par niveau de vie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42CAC-C8BD-40A7-A696-B0A98529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E26AB-F613-4CBD-9470-D90480A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10490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46e842fdd4e01"/>
          <a:stretch xmlns:a="http://schemas.openxmlformats.org/drawingml/2006/main"/>
        </p:blipFill>
        <p:spPr>
          <a:xfrm xmlns:a="http://schemas.openxmlformats.org/drawingml/2006/main">
            <a:off x="876300" y="3238500"/>
            <a:ext cx="10972800" cy="6172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94E3A-5768-4424-8D1A-87830436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00E764F7-2E3B-4B67-9EA6-BE084D1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8196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graphique montre directement le niveau d'inflation par groupe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E5E06-7D28-4B79-A609-66677AB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63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8EC672C-9C00-45DD-A61D-7B86E12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388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écarts s'ouvrent surtout quand les prix accélèrent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FD1AF-285C-4D8F-8DB6-2E5742E1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45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D0C923B-DE1C-48E5-898C-761542E4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4579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C'est le format le plus proche de l'exemple du 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DC1D1-F2AD-4B27-BF22-7E6FE15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41045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0AE3D-33E9-4FD5-B5A6-40EC39E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les fonctions du package inflationinequality. Formulations inspirées de la Note de conjoncture INSEE « Guerre et Prix », juin 2022.</a:t>
            </a:r>
          </a:p>
        </p:txBody>
      </p:sp>
    </p:spTree>
    <p:extLst>
      <p:ext uri="{BB962C8B-B14F-4D97-AF65-F5344CB8AC3E}">
        <p14:creationId xmlns:p14="http://schemas.microsoft.com/office/powerpoint/2010/main" val="164859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37141-56E8-4528-B3FB-7F150EA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F09F6-0BFB-42B3-AA9C-C3423F5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ÂGE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231C9-260A-448F-8DDA-6DD0949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36957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Inflation par âge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D209D-2FE4-4D79-8F9D-3E42F084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98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des moins de 30 ans, des 60 ans ou plus et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21CA3-1F17-4134-9773-5BF3CA8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10490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1495d08a04833"/>
          <a:stretch xmlns:a="http://schemas.openxmlformats.org/drawingml/2006/main"/>
        </p:blipFill>
        <p:spPr>
          <a:xfrm xmlns:a="http://schemas.openxmlformats.org/drawingml/2006/main">
            <a:off x="876300" y="3238500"/>
            <a:ext cx="10972800" cy="6172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3B914-2C07-436B-BADC-48927CF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4CE2B001-51F7-41E7-9324-83302DB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8196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d'inflation se lit sans passer par un écart abstrait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92435-C16D-4E74-B7FF-47C4A459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63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4394AECA-764A-403A-BBC4-EBC3B9E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388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divergences entre lignes signalent un effet de panier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08C73-3A76-4D2A-9A5D-A7C5A38B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45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7FC4AA0-D77E-4B05-927D-D8396225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4579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message reste accessible pour un public non technique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4B2E8-E827-4BE9-9B48-6147351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41045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C8869-AE83-460A-BECB-E683ED4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les fonctions du package inflationinequality. Formulations inspirées de la Note de conjoncture INSEE « Guerre et Prix », juin 2022.</a:t>
            </a:r>
          </a:p>
        </p:txBody>
      </p:sp>
    </p:spTree>
    <p:extLst>
      <p:ext uri="{BB962C8B-B14F-4D97-AF65-F5344CB8AC3E}">
        <p14:creationId xmlns:p14="http://schemas.microsoft.com/office/powerpoint/2010/main" val="9472823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D9409-F598-4143-BCCD-C3F34E7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B0F87-321D-40F9-A038-C99F5F6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RÉSIDENCE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D3837-9823-4914-840A-A5A2CDA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69342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Inflation par zone de résidence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EE23B-85FB-4C5E-8131-0DA17750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09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par zone de résidence, en niveau.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B5A7-7AC0-4609-97DC-C23E05C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10490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7c25e69814921"/>
          <a:stretch xmlns:a="http://schemas.openxmlformats.org/drawingml/2006/main"/>
        </p:blipFill>
        <p:spPr>
          <a:xfrm xmlns:a="http://schemas.openxmlformats.org/drawingml/2006/main">
            <a:off x="876300" y="3238500"/>
            <a:ext cx="10972800" cy="6172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3E4C4-DD78-4CBA-AF25-95EBF7C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C060AC9B-B085-4E01-A081-AE915FA8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8196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trajectoires rendent visible le rôle du lieu de résidence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0680-936D-427B-9769-8089F07F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63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8C8054E-523C-40E6-953C-1C6324E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388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comparaison reste lisible même en présentation grand 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7975C-B96C-4957-8E37-63BD22A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45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88E2A2C7-6F4C-4819-BD9F-6C10477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4579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Elle prépare naturellement la décomposition par postes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CF2DD-501C-48D8-BE28-4E19D50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41045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9B12A-9326-4602-98C0-D1C55235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les fonctions du package inflationinequality. Formulations inspirées de la Note de conjoncture INSEE « Guerre et Prix », juin 2022.</a:t>
            </a:r>
          </a:p>
        </p:txBody>
      </p:sp>
    </p:spTree>
    <p:extLst>
      <p:ext uri="{BB962C8B-B14F-4D97-AF65-F5344CB8AC3E}">
        <p14:creationId xmlns:p14="http://schemas.microsoft.com/office/powerpoint/2010/main" val="10918875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C3A5C-7915-40EB-B452-B54B5BC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0FE37-6751-4DFE-9345-B4B45379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24EA9-F7F4-4991-9B71-4FA21643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99631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5202B"/>
                </a:solidFill>
              </a:defRPr>
            </a:pPr>
            <a:r>
              <a:rPr sz="4275" b="1">
                <a:solidFill>
                  <a:srgbClr val="15202B"/>
                </a:solidFill>
              </a:rPr>
              <a:t>Rural-villes : les postes qui fabriquent l'écart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AC864-11C3-44F1-A672-DCE6DC0A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Contribution des postes de consommation à l'écart d'inflation.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110EB-CBD1-4B85-BD4B-8C796595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1049000" cy="6438900"/>
          </a:xfrm>
          <a:prstGeom xmlns:a="http://schemas.openxmlformats.org/drawingml/2006/main" prst="roundRect">
            <a:avLst>
              <a:gd name="adj" fmla="val 11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66a763fc8427e"/>
          <a:stretch xmlns:a="http://schemas.openxmlformats.org/drawingml/2006/main"/>
        </p:blipFill>
        <p:spPr>
          <a:xfrm xmlns:a="http://schemas.openxmlformats.org/drawingml/2006/main">
            <a:off x="838200" y="30837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F091C-2967-4A32-A17B-43DEACB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BDB31510-94A0-4F41-8146-300EF9B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6863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barres décomposent l'écart rural-villes poste par poste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BE748-E08F-438D-874C-A9ABE28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DE6F326-6775-479F-AB89-B493B8FD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50545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Transport et énergie rendent le territoire immédiatement lisible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DBCF9-9B02-40C5-9C3A-0911C11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32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9186EF56-30E7-43B2-B386-85461067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3246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ligne noire résume l'écart total entre les deux groupes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17C0-265A-4A01-BC07-A3E09DA1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277100"/>
            <a:ext cx="461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un écart positif signifie que le rural subit une inflation plus élevée que les villes.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D3A30-C202-4067-B742-275281B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les fonctions du package inflationinequality. Formulations inspirées de la Note de conjoncture INSEE « Guerre et Prix », juin 2022.</a:t>
            </a:r>
          </a:p>
        </p:txBody>
      </p:sp>
    </p:spTree>
    <p:extLst>
      <p:ext uri="{BB962C8B-B14F-4D97-AF65-F5344CB8AC3E}">
        <p14:creationId xmlns:p14="http://schemas.microsoft.com/office/powerpoint/2010/main" val="1360120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2026-05-16T20:14:13.0870000Z</dcterms:created>
  <dcterms:modified xsi:type="dcterms:W3CDTF">2026-05-16T20:14:13.0870000Z</dcterms:modified>
</coreProperties>
</file>