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1" r:id="rId9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8880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4ACEEA-2717-4AB7-BC84-617EF827F1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6F08B1-90CB-475C-95E9-534F570DC2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BDA627-83F2-42A2-9831-39FAB342D2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287000"/>
          </a:xfrm>
          <a:prstGeom prst="rect">
            <a:avLst/>
          </a:prstGeom>
          <a:solidFill>
            <a:srgbClr val="F6F8F9"/>
          </a:solidFill>
          <a:ln>
            <a:solidFill>
              <a:srgbClr val="F6F8F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38A200-FF05-4347-A969-062B97B37D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7239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D3313D-2486-4E84-AEBF-C6B12D3A528F}"/>
              </a:ext>
            </a:extLst>
          </p:cNvPr>
          <p:cNvSpPr>
            <a:spLocks noGrp="1"/>
          </p:cNvSpPr>
          <p:nvPr/>
        </p:nvSpPr>
        <p:spPr>
          <a:xfrm>
            <a:off x="1028700" y="876300"/>
            <a:ext cx="10972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B998B"/>
                </a:solidFill>
              </a:defRPr>
            </a:pPr>
            <a:r>
              <a:rPr sz="1500" b="1">
                <a:solidFill>
                  <a:srgbClr val="1B998B"/>
                </a:solidFill>
              </a:rPr>
              <a:t>INFLATIONINEQUALITY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21A34-C8CE-4F23-A029-E948E0B46D3F}"/>
              </a:ext>
            </a:extLst>
          </p:cNvPr>
          <p:cNvSpPr>
            <a:spLocks noGrp="1"/>
          </p:cNvSpPr>
          <p:nvPr/>
        </p:nvSpPr>
        <p:spPr>
          <a:xfrm>
            <a:off x="1028700" y="1428750"/>
            <a:ext cx="9220200" cy="1752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700" b="1">
                <a:solidFill>
                  <a:srgbClr val="15202B"/>
                </a:solidFill>
              </a:defRPr>
            </a:pPr>
            <a:r>
              <a:rPr sz="5700" b="1" dirty="0">
                <a:solidFill>
                  <a:srgbClr val="15202B"/>
                </a:solidFill>
              </a:rPr>
              <a:t>Voir </a:t>
            </a:r>
            <a:r>
              <a:rPr sz="5700" b="1" dirty="0" err="1">
                <a:solidFill>
                  <a:srgbClr val="15202B"/>
                </a:solidFill>
              </a:rPr>
              <a:t>l'inflation</a:t>
            </a:r>
            <a:r>
              <a:rPr sz="5700" b="1" dirty="0">
                <a:solidFill>
                  <a:srgbClr val="15202B"/>
                </a:solidFill>
              </a:rPr>
              <a:t> </a:t>
            </a:r>
            <a:r>
              <a:rPr lang="fr-FR" sz="5700" b="1" dirty="0">
                <a:solidFill>
                  <a:srgbClr val="15202B"/>
                </a:solidFill>
              </a:rPr>
              <a:t>au-delà de la moyenne</a:t>
            </a:r>
            <a:endParaRPr sz="5700" b="1" dirty="0">
              <a:solidFill>
                <a:srgbClr val="15202B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9750AD-02AD-455D-B29D-797D9434A350}"/>
              </a:ext>
            </a:extLst>
          </p:cNvPr>
          <p:cNvSpPr>
            <a:spLocks noGrp="1"/>
          </p:cNvSpPr>
          <p:nvPr/>
        </p:nvSpPr>
        <p:spPr>
          <a:xfrm>
            <a:off x="1028700" y="3486150"/>
            <a:ext cx="88011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>
                <a:solidFill>
                  <a:srgbClr val="52616B"/>
                </a:solidFill>
              </a:defRPr>
            </a:pPr>
            <a:r>
              <a:rPr sz="2325" b="0" dirty="0">
                <a:solidFill>
                  <a:srgbClr val="52616B"/>
                </a:solidFill>
              </a:rPr>
              <a:t>Un package R pour </a:t>
            </a:r>
            <a:r>
              <a:rPr sz="2325" b="0" dirty="0" err="1">
                <a:solidFill>
                  <a:srgbClr val="52616B"/>
                </a:solidFill>
              </a:rPr>
              <a:t>produire</a:t>
            </a:r>
            <a:r>
              <a:rPr sz="2325" b="0" dirty="0">
                <a:solidFill>
                  <a:srgbClr val="52616B"/>
                </a:solidFill>
              </a:rPr>
              <a:t> </a:t>
            </a:r>
            <a:r>
              <a:rPr sz="2325" b="0" dirty="0" err="1">
                <a:solidFill>
                  <a:srgbClr val="52616B"/>
                </a:solidFill>
              </a:rPr>
              <a:t>rapidement</a:t>
            </a:r>
            <a:r>
              <a:rPr sz="2325" b="0" dirty="0">
                <a:solidFill>
                  <a:srgbClr val="52616B"/>
                </a:solidFill>
              </a:rPr>
              <a:t> des </a:t>
            </a:r>
            <a:r>
              <a:rPr lang="fr-FR" sz="2325" b="0" dirty="0" err="1">
                <a:solidFill>
                  <a:srgbClr val="52616B"/>
                </a:solidFill>
              </a:rPr>
              <a:t>graphqiues</a:t>
            </a:r>
            <a:r>
              <a:rPr sz="2325" b="0" dirty="0">
                <a:solidFill>
                  <a:srgbClr val="52616B"/>
                </a:solidFill>
              </a:rPr>
              <a:t> </a:t>
            </a:r>
            <a:r>
              <a:rPr sz="2325" b="0" dirty="0" err="1">
                <a:solidFill>
                  <a:srgbClr val="52616B"/>
                </a:solidFill>
              </a:rPr>
              <a:t>reproductibles</a:t>
            </a:r>
            <a:r>
              <a:rPr sz="2325" b="0" dirty="0">
                <a:solidFill>
                  <a:srgbClr val="52616B"/>
                </a:solidFill>
              </a:rPr>
              <a:t> et mis à jour</a:t>
            </a:r>
            <a:r>
              <a:rPr lang="fr-FR" sz="2325" b="0" dirty="0">
                <a:solidFill>
                  <a:srgbClr val="52616B"/>
                </a:solidFill>
              </a:rPr>
              <a:t> facilement</a:t>
            </a:r>
            <a:r>
              <a:rPr sz="2325" b="0" dirty="0">
                <a:solidFill>
                  <a:srgbClr val="52616B"/>
                </a:solidFill>
              </a:rPr>
              <a:t> 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B09E799-E69D-473D-A071-7381270ED1E3}"/>
              </a:ext>
            </a:extLst>
          </p:cNvPr>
          <p:cNvSpPr>
            <a:spLocks noGrp="1"/>
          </p:cNvSpPr>
          <p:nvPr/>
        </p:nvSpPr>
        <p:spPr>
          <a:xfrm>
            <a:off x="1028700" y="4533900"/>
            <a:ext cx="190500" cy="190500"/>
          </a:xfrm>
          <a:prstGeom prst="ellipse">
            <a:avLst/>
          </a:prstGeom>
          <a:solidFill>
            <a:srgbClr val="F2A541"/>
          </a:solidFill>
          <a:ln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bullet-1">
            <a:extLst>
              <a:ext uri="{FF2B5EF4-FFF2-40B4-BE49-F238E27FC236}">
                <a16:creationId xmlns:a16="http://schemas.microsoft.com/office/drawing/2014/main" id="{081F5253-56EB-4E1A-80A0-0DF00ECC1D2D}"/>
              </a:ext>
            </a:extLst>
          </p:cNvPr>
          <p:cNvSpPr>
            <a:spLocks noGrp="1"/>
          </p:cNvSpPr>
          <p:nvPr/>
        </p:nvSpPr>
        <p:spPr>
          <a:xfrm>
            <a:off x="1390650" y="4514850"/>
            <a:ext cx="13460976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lang="fr-FR" sz="2025" b="0" dirty="0">
                <a:solidFill>
                  <a:srgbClr val="15202B"/>
                </a:solidFill>
              </a:rPr>
              <a:t>A partir de </a:t>
            </a:r>
            <a:r>
              <a:rPr lang="fr-FR" sz="2025" dirty="0">
                <a:solidFill>
                  <a:srgbClr val="15202B"/>
                </a:solidFill>
              </a:rPr>
              <a:t>d</a:t>
            </a:r>
            <a:r>
              <a:rPr sz="2025" b="0" dirty="0" err="1">
                <a:solidFill>
                  <a:srgbClr val="15202B"/>
                </a:solidFill>
              </a:rPr>
              <a:t>onnées</a:t>
            </a:r>
            <a:r>
              <a:rPr sz="2025" b="0" dirty="0">
                <a:solidFill>
                  <a:srgbClr val="15202B"/>
                </a:solidFill>
              </a:rPr>
              <a:t> </a:t>
            </a:r>
            <a:r>
              <a:rPr sz="2025" b="0" dirty="0" err="1">
                <a:solidFill>
                  <a:srgbClr val="15202B"/>
                </a:solidFill>
              </a:rPr>
              <a:t>publiques</a:t>
            </a:r>
            <a:r>
              <a:rPr sz="2025" b="0" dirty="0">
                <a:solidFill>
                  <a:srgbClr val="15202B"/>
                </a:solidFill>
              </a:rPr>
              <a:t> : I</a:t>
            </a:r>
            <a:r>
              <a:rPr lang="fr-FR" sz="2025" b="0" dirty="0" err="1">
                <a:solidFill>
                  <a:srgbClr val="15202B"/>
                </a:solidFill>
              </a:rPr>
              <a:t>ndice</a:t>
            </a:r>
            <a:r>
              <a:rPr lang="fr-FR" sz="2025" b="0" dirty="0">
                <a:solidFill>
                  <a:srgbClr val="15202B"/>
                </a:solidFill>
              </a:rPr>
              <a:t> des prix à la consommation</a:t>
            </a:r>
            <a:r>
              <a:rPr lang="fr-FR" sz="2025" dirty="0">
                <a:solidFill>
                  <a:srgbClr val="15202B"/>
                </a:solidFill>
              </a:rPr>
              <a:t> et enquête sur les budgets des ménages</a:t>
            </a:r>
            <a:endParaRPr sz="2025" b="0" dirty="0">
              <a:solidFill>
                <a:srgbClr val="15202B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7D18F17F-DDD7-420D-B9E5-6D0F37A36827}"/>
              </a:ext>
            </a:extLst>
          </p:cNvPr>
          <p:cNvSpPr>
            <a:spLocks noGrp="1"/>
          </p:cNvSpPr>
          <p:nvPr/>
        </p:nvSpPr>
        <p:spPr>
          <a:xfrm>
            <a:off x="1028700" y="4953000"/>
            <a:ext cx="190500" cy="190500"/>
          </a:xfrm>
          <a:prstGeom prst="ellipse">
            <a:avLst/>
          </a:prstGeom>
          <a:solidFill>
            <a:srgbClr val="F2A541"/>
          </a:solidFill>
          <a:ln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bullet-2">
            <a:extLst>
              <a:ext uri="{FF2B5EF4-FFF2-40B4-BE49-F238E27FC236}">
                <a16:creationId xmlns:a16="http://schemas.microsoft.com/office/drawing/2014/main" id="{76D2865B-EA76-4A4E-8E66-9A4E4372FF78}"/>
              </a:ext>
            </a:extLst>
          </p:cNvPr>
          <p:cNvSpPr>
            <a:spLocks noGrp="1"/>
          </p:cNvSpPr>
          <p:nvPr/>
        </p:nvSpPr>
        <p:spPr>
          <a:xfrm>
            <a:off x="1390650" y="4972050"/>
            <a:ext cx="85915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 dirty="0">
                <a:solidFill>
                  <a:srgbClr val="15202B"/>
                </a:solidFill>
              </a:rPr>
              <a:t>Code disponible sur GitHub </a:t>
            </a:r>
            <a:r>
              <a:rPr sz="2025" b="0" dirty="0" err="1">
                <a:solidFill>
                  <a:srgbClr val="15202B"/>
                </a:solidFill>
              </a:rPr>
              <a:t>vérifiable</a:t>
            </a:r>
            <a:r>
              <a:rPr sz="2025" b="0" dirty="0">
                <a:solidFill>
                  <a:srgbClr val="15202B"/>
                </a:solidFill>
              </a:rPr>
              <a:t> et </a:t>
            </a:r>
            <a:r>
              <a:rPr sz="2025" b="0" dirty="0" err="1">
                <a:solidFill>
                  <a:srgbClr val="15202B"/>
                </a:solidFill>
              </a:rPr>
              <a:t>réutilisable</a:t>
            </a:r>
            <a:endParaRPr sz="2025" b="0" dirty="0">
              <a:solidFill>
                <a:srgbClr val="15202B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9B54513-41B6-4A44-AED8-25B7A3BA3B06}"/>
              </a:ext>
            </a:extLst>
          </p:cNvPr>
          <p:cNvSpPr>
            <a:spLocks noGrp="1"/>
          </p:cNvSpPr>
          <p:nvPr/>
        </p:nvSpPr>
        <p:spPr>
          <a:xfrm>
            <a:off x="1028700" y="5410200"/>
            <a:ext cx="190500" cy="190500"/>
          </a:xfrm>
          <a:prstGeom prst="ellipse">
            <a:avLst/>
          </a:prstGeom>
          <a:solidFill>
            <a:srgbClr val="F2A541"/>
          </a:solidFill>
          <a:ln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bullet-3">
            <a:extLst>
              <a:ext uri="{FF2B5EF4-FFF2-40B4-BE49-F238E27FC236}">
                <a16:creationId xmlns:a16="http://schemas.microsoft.com/office/drawing/2014/main" id="{63048F9F-2967-44E5-8372-7CFC8489DE73}"/>
              </a:ext>
            </a:extLst>
          </p:cNvPr>
          <p:cNvSpPr>
            <a:spLocks noGrp="1"/>
          </p:cNvSpPr>
          <p:nvPr/>
        </p:nvSpPr>
        <p:spPr>
          <a:xfrm>
            <a:off x="1390650" y="5410200"/>
            <a:ext cx="85915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 dirty="0">
                <a:solidFill>
                  <a:srgbClr val="15202B"/>
                </a:solidFill>
              </a:rPr>
              <a:t>F</a:t>
            </a:r>
            <a:r>
              <a:rPr lang="fr-FR" sz="2025" b="0" dirty="0" err="1">
                <a:solidFill>
                  <a:srgbClr val="15202B"/>
                </a:solidFill>
              </a:rPr>
              <a:t>ifférentes</a:t>
            </a:r>
            <a:r>
              <a:rPr lang="fr-FR" sz="2025" b="0" dirty="0">
                <a:solidFill>
                  <a:srgbClr val="15202B"/>
                </a:solidFill>
              </a:rPr>
              <a:t> audiences </a:t>
            </a:r>
            <a:r>
              <a:rPr lang="fr-FR" sz="2025" dirty="0">
                <a:solidFill>
                  <a:srgbClr val="15202B"/>
                </a:solidFill>
              </a:rPr>
              <a:t> possible ; grands publique</a:t>
            </a:r>
            <a:r>
              <a:rPr sz="2025" b="0" dirty="0">
                <a:solidFill>
                  <a:srgbClr val="15202B"/>
                </a:solidFill>
              </a:rPr>
              <a:t>, policy </a:t>
            </a:r>
            <a:r>
              <a:rPr sz="2025" b="0" dirty="0" err="1">
                <a:solidFill>
                  <a:srgbClr val="15202B"/>
                </a:solidFill>
              </a:rPr>
              <a:t>ou</a:t>
            </a:r>
            <a:r>
              <a:rPr sz="2025" b="0" dirty="0">
                <a:solidFill>
                  <a:srgbClr val="15202B"/>
                </a:solidFill>
              </a:rPr>
              <a:t> </a:t>
            </a:r>
            <a:r>
              <a:rPr lang="fr-FR" sz="2025" dirty="0">
                <a:solidFill>
                  <a:srgbClr val="15202B"/>
                </a:solidFill>
              </a:rPr>
              <a:t>même </a:t>
            </a:r>
            <a:r>
              <a:rPr sz="2025" b="0" dirty="0">
                <a:solidFill>
                  <a:srgbClr val="15202B"/>
                </a:solidFill>
              </a:rPr>
              <a:t>recherche</a:t>
            </a:r>
          </a:p>
        </p:txBody>
      </p:sp>
    </p:spTree>
    <p:extLst>
      <p:ext uri="{BB962C8B-B14F-4D97-AF65-F5344CB8AC3E}">
        <p14:creationId xmlns:p14="http://schemas.microsoft.com/office/powerpoint/2010/main" val="421842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14BF5BE-9872-4C4B-9EDE-7B21247D7B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EEC5C4-E298-4E5C-91B1-E50227A99DC8}"/>
              </a:ext>
            </a:extLst>
          </p:cNvPr>
          <p:cNvSpPr>
            <a:spLocks noGrp="1"/>
          </p:cNvSpPr>
          <p:nvPr/>
        </p:nvSpPr>
        <p:spPr>
          <a:xfrm>
            <a:off x="1143000" y="914400"/>
            <a:ext cx="16002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POURQUOI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5199A8-6D37-4BF1-AA4A-84594E935A51}"/>
              </a:ext>
            </a:extLst>
          </p:cNvPr>
          <p:cNvSpPr>
            <a:spLocks noGrp="1"/>
          </p:cNvSpPr>
          <p:nvPr/>
        </p:nvSpPr>
        <p:spPr>
          <a:xfrm>
            <a:off x="1143000" y="1295400"/>
            <a:ext cx="161925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5202B"/>
                </a:solidFill>
              </a:defRPr>
            </a:pPr>
            <a:r>
              <a:rPr sz="3750" b="1">
                <a:solidFill>
                  <a:srgbClr val="15202B"/>
                </a:solidFill>
              </a:rPr>
              <a:t>L'inflation moyenne ne raconte pas toute l'histoire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9822B9-E359-4138-8DFD-B23625899CC7}"/>
              </a:ext>
            </a:extLst>
          </p:cNvPr>
          <p:cNvSpPr>
            <a:spLocks noGrp="1"/>
          </p:cNvSpPr>
          <p:nvPr/>
        </p:nvSpPr>
        <p:spPr>
          <a:xfrm>
            <a:off x="1143000" y="2038350"/>
            <a:ext cx="66675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Un même choc de prix ne touche pas les ménages de la même façon.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CF43D-14C9-4929-A83B-04572ECC5014}"/>
              </a:ext>
            </a:extLst>
          </p:cNvPr>
          <p:cNvSpPr>
            <a:spLocks noGrp="1"/>
          </p:cNvSpPr>
          <p:nvPr/>
        </p:nvSpPr>
        <p:spPr>
          <a:xfrm>
            <a:off x="1143000" y="5257800"/>
            <a:ext cx="5676900" cy="1200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900" b="1">
                <a:solidFill>
                  <a:srgbClr val="15202B"/>
                </a:solidFill>
              </a:defRPr>
            </a:pPr>
            <a:r>
              <a:rPr sz="3900" b="1">
                <a:solidFill>
                  <a:srgbClr val="15202B"/>
                </a:solidFill>
              </a:rPr>
              <a:t>Même choc de prix, paniers différents.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7D6992-2DFE-4C1D-A3E2-046FB8D09BA1}"/>
              </a:ext>
            </a:extLst>
          </p:cNvPr>
          <p:cNvSpPr>
            <a:spLocks noGrp="1"/>
          </p:cNvSpPr>
          <p:nvPr/>
        </p:nvSpPr>
        <p:spPr>
          <a:xfrm>
            <a:off x="1143000" y="6705600"/>
            <a:ext cx="54673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>
                <a:solidFill>
                  <a:srgbClr val="52616B"/>
                </a:solidFill>
              </a:defRPr>
            </a:pPr>
            <a:r>
              <a:rPr sz="2250" b="0">
                <a:solidFill>
                  <a:srgbClr val="52616B"/>
                </a:solidFill>
              </a:rPr>
              <a:t>L'outil transforme cette intuition en graphiques simples, mensuels et comparables.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AA7CE02-7B52-40F7-A543-0BB32446F3CC}"/>
              </a:ext>
            </a:extLst>
          </p:cNvPr>
          <p:cNvSpPr>
            <a:spLocks noGrp="1"/>
          </p:cNvSpPr>
          <p:nvPr/>
        </p:nvSpPr>
        <p:spPr>
          <a:xfrm>
            <a:off x="7772400" y="5676900"/>
            <a:ext cx="190500" cy="190500"/>
          </a:xfrm>
          <a:prstGeom prst="ellipse">
            <a:avLst/>
          </a:prstGeom>
          <a:solidFill>
            <a:srgbClr val="1B998B"/>
          </a:solidFill>
          <a:ln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EF9940BA-FBEC-4B56-8083-822EC308CD63}"/>
              </a:ext>
            </a:extLst>
          </p:cNvPr>
          <p:cNvSpPr>
            <a:spLocks noGrp="1"/>
          </p:cNvSpPr>
          <p:nvPr/>
        </p:nvSpPr>
        <p:spPr>
          <a:xfrm>
            <a:off x="8115300" y="5657850"/>
            <a:ext cx="90297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>
                <a:solidFill>
                  <a:srgbClr val="15202B"/>
                </a:solidFill>
              </a:defRPr>
            </a:pPr>
            <a:r>
              <a:rPr sz="2325" b="0">
                <a:solidFill>
                  <a:srgbClr val="15202B"/>
                </a:solidFill>
              </a:rPr>
              <a:t>Les paniers de consommation varient selon les ménages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FC93516-B39B-4677-BD08-A3021D57D105}"/>
              </a:ext>
            </a:extLst>
          </p:cNvPr>
          <p:cNvSpPr>
            <a:spLocks noGrp="1"/>
          </p:cNvSpPr>
          <p:nvPr/>
        </p:nvSpPr>
        <p:spPr>
          <a:xfrm>
            <a:off x="7772400" y="6134100"/>
            <a:ext cx="190500" cy="190500"/>
          </a:xfrm>
          <a:prstGeom prst="ellipse">
            <a:avLst/>
          </a:prstGeom>
          <a:solidFill>
            <a:srgbClr val="1B998B"/>
          </a:solidFill>
          <a:ln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F4649239-18BD-4D0B-8C3C-BE2031C6D311}"/>
              </a:ext>
            </a:extLst>
          </p:cNvPr>
          <p:cNvSpPr>
            <a:spLocks noGrp="1"/>
          </p:cNvSpPr>
          <p:nvPr/>
        </p:nvSpPr>
        <p:spPr>
          <a:xfrm>
            <a:off x="8115300" y="6153150"/>
            <a:ext cx="90297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>
                <a:solidFill>
                  <a:srgbClr val="15202B"/>
                </a:solidFill>
              </a:defRPr>
            </a:pPr>
            <a:r>
              <a:rPr sz="2325" b="0">
                <a:solidFill>
                  <a:srgbClr val="15202B"/>
                </a:solidFill>
              </a:rPr>
              <a:t>Les écarts deviennent visibles quand les prix bougent vite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4CFB931-F1C2-4CD0-9314-5CA1927191C0}"/>
              </a:ext>
            </a:extLst>
          </p:cNvPr>
          <p:cNvSpPr>
            <a:spLocks noGrp="1"/>
          </p:cNvSpPr>
          <p:nvPr/>
        </p:nvSpPr>
        <p:spPr>
          <a:xfrm>
            <a:off x="7772400" y="6629400"/>
            <a:ext cx="190500" cy="190500"/>
          </a:xfrm>
          <a:prstGeom prst="ellipse">
            <a:avLst/>
          </a:prstGeom>
          <a:solidFill>
            <a:srgbClr val="1B998B"/>
          </a:solidFill>
          <a:ln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bullet-3">
            <a:extLst>
              <a:ext uri="{FF2B5EF4-FFF2-40B4-BE49-F238E27FC236}">
                <a16:creationId xmlns:a16="http://schemas.microsoft.com/office/drawing/2014/main" id="{665DF8A8-8F01-42E4-B6DE-E60CC9533CA4}"/>
              </a:ext>
            </a:extLst>
          </p:cNvPr>
          <p:cNvSpPr>
            <a:spLocks noGrp="1"/>
          </p:cNvSpPr>
          <p:nvPr/>
        </p:nvSpPr>
        <p:spPr>
          <a:xfrm>
            <a:off x="8115300" y="6629400"/>
            <a:ext cx="90297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>
                <a:solidFill>
                  <a:srgbClr val="15202B"/>
                </a:solidFill>
              </a:defRPr>
            </a:pPr>
            <a:r>
              <a:rPr sz="2325" b="0">
                <a:solidFill>
                  <a:srgbClr val="15202B"/>
                </a:solidFill>
              </a:rPr>
              <a:t>La datavisualisation aide à raconter le phénomène sans jargon</a:t>
            </a:r>
          </a:p>
        </p:txBody>
      </p:sp>
    </p:spTree>
    <p:extLst>
      <p:ext uri="{BB962C8B-B14F-4D97-AF65-F5344CB8AC3E}">
        <p14:creationId xmlns:p14="http://schemas.microsoft.com/office/powerpoint/2010/main" val="290939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06DAEF9-41DF-47B9-A6F9-C488D287B1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6E554A-7903-4117-A943-27B7507085B6}"/>
              </a:ext>
            </a:extLst>
          </p:cNvPr>
          <p:cNvSpPr>
            <a:spLocks noGrp="1"/>
          </p:cNvSpPr>
          <p:nvPr/>
        </p:nvSpPr>
        <p:spPr>
          <a:xfrm>
            <a:off x="1047750" y="723900"/>
            <a:ext cx="16192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L'OUTIL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88D618-C05D-4802-82CF-0EF66CE79CB6}"/>
              </a:ext>
            </a:extLst>
          </p:cNvPr>
          <p:cNvSpPr>
            <a:spLocks noGrp="1"/>
          </p:cNvSpPr>
          <p:nvPr/>
        </p:nvSpPr>
        <p:spPr>
          <a:xfrm>
            <a:off x="1047750" y="1104900"/>
            <a:ext cx="161925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5202B"/>
                </a:solidFill>
              </a:defRPr>
            </a:pPr>
            <a:r>
              <a:rPr sz="3750" b="1" dirty="0">
                <a:solidFill>
                  <a:srgbClr val="15202B"/>
                </a:solidFill>
              </a:rPr>
              <a:t>Un </a:t>
            </a:r>
            <a:r>
              <a:rPr lang="fr-FR" sz="3750" b="1" dirty="0">
                <a:solidFill>
                  <a:srgbClr val="15202B"/>
                </a:solidFill>
              </a:rPr>
              <a:t>outil</a:t>
            </a:r>
            <a:r>
              <a:rPr sz="3750" b="1" dirty="0">
                <a:solidFill>
                  <a:srgbClr val="15202B"/>
                </a:solidFill>
              </a:rPr>
              <a:t> pour passer des données au</a:t>
            </a:r>
            <a:r>
              <a:rPr lang="fr-FR" sz="3750" b="1" dirty="0">
                <a:solidFill>
                  <a:srgbClr val="15202B"/>
                </a:solidFill>
              </a:rPr>
              <a:t>x</a:t>
            </a:r>
            <a:r>
              <a:rPr sz="3750" b="1" dirty="0">
                <a:solidFill>
                  <a:srgbClr val="15202B"/>
                </a:solidFill>
              </a:rPr>
              <a:t> </a:t>
            </a:r>
            <a:r>
              <a:rPr sz="3750" b="1" dirty="0" err="1">
                <a:solidFill>
                  <a:srgbClr val="15202B"/>
                </a:solidFill>
              </a:rPr>
              <a:t>graphique</a:t>
            </a:r>
            <a:r>
              <a:rPr lang="fr-FR" sz="3750" b="1" dirty="0">
                <a:solidFill>
                  <a:srgbClr val="15202B"/>
                </a:solidFill>
              </a:rPr>
              <a:t>s</a:t>
            </a:r>
            <a:endParaRPr sz="3750" b="1" dirty="0">
              <a:solidFill>
                <a:srgbClr val="15202B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6E9EFE-0338-4900-949E-9054C98B5476}"/>
              </a:ext>
            </a:extLst>
          </p:cNvPr>
          <p:cNvSpPr>
            <a:spLocks noGrp="1"/>
          </p:cNvSpPr>
          <p:nvPr/>
        </p:nvSpPr>
        <p:spPr>
          <a:xfrm>
            <a:off x="1047750" y="1847850"/>
            <a:ext cx="83439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52616B"/>
                </a:solidFill>
              </a:defRPr>
            </a:pPr>
            <a:r>
              <a:rPr sz="1875" b="0" dirty="0" err="1">
                <a:solidFill>
                  <a:srgbClr val="52616B"/>
                </a:solidFill>
              </a:rPr>
              <a:t>L'objectif</a:t>
            </a:r>
            <a:r>
              <a:rPr sz="1875" b="0" dirty="0">
                <a:solidFill>
                  <a:srgbClr val="52616B"/>
                </a:solidFill>
              </a:rPr>
              <a:t> est de </a:t>
            </a:r>
            <a:r>
              <a:rPr sz="1875" b="0" dirty="0" err="1">
                <a:solidFill>
                  <a:srgbClr val="52616B"/>
                </a:solidFill>
              </a:rPr>
              <a:t>rendre</a:t>
            </a:r>
            <a:r>
              <a:rPr sz="1875" b="0" dirty="0">
                <a:solidFill>
                  <a:srgbClr val="52616B"/>
                </a:solidFill>
              </a:rPr>
              <a:t> la mise à jour plus simple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5ED0EFE2-2CC9-43D1-9886-E2764681F2F1}"/>
              </a:ext>
            </a:extLst>
          </p:cNvPr>
          <p:cNvSpPr>
            <a:spLocks noGrp="1"/>
          </p:cNvSpPr>
          <p:nvPr/>
        </p:nvSpPr>
        <p:spPr>
          <a:xfrm>
            <a:off x="1047750" y="3600450"/>
            <a:ext cx="4476750" cy="4953000"/>
          </a:xfrm>
          <a:prstGeom prst="roundRect">
            <a:avLst>
              <a:gd name="adj" fmla="val 1702"/>
            </a:avLst>
          </a:prstGeom>
          <a:solidFill>
            <a:srgbClr val="F9FAFB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1881CD-FC9F-4F5F-A6DB-7BA1D6ED9724}"/>
              </a:ext>
            </a:extLst>
          </p:cNvPr>
          <p:cNvSpPr>
            <a:spLocks noGrp="1"/>
          </p:cNvSpPr>
          <p:nvPr/>
        </p:nvSpPr>
        <p:spPr>
          <a:xfrm>
            <a:off x="1428750" y="5029200"/>
            <a:ext cx="37147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1B998B"/>
                </a:solidFill>
              </a:defRPr>
            </a:pPr>
            <a:r>
              <a:rPr sz="4350" b="1">
                <a:solidFill>
                  <a:srgbClr val="1B998B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4FADB2-9F59-4A82-93E0-31CA0FEA7151}"/>
              </a:ext>
            </a:extLst>
          </p:cNvPr>
          <p:cNvSpPr>
            <a:spLocks noGrp="1"/>
          </p:cNvSpPr>
          <p:nvPr/>
        </p:nvSpPr>
        <p:spPr>
          <a:xfrm>
            <a:off x="1428750" y="5905500"/>
            <a:ext cx="3714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5202B"/>
                </a:solidFill>
              </a:defRPr>
            </a:pPr>
            <a:r>
              <a:rPr sz="2700" b="1">
                <a:solidFill>
                  <a:srgbClr val="15202B"/>
                </a:solidFill>
              </a:rPr>
              <a:t>Télécharger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4E5C36-BB4E-4327-8940-FE6FD2314EF3}"/>
              </a:ext>
            </a:extLst>
          </p:cNvPr>
          <p:cNvSpPr>
            <a:spLocks noGrp="1"/>
          </p:cNvSpPr>
          <p:nvPr/>
        </p:nvSpPr>
        <p:spPr>
          <a:xfrm>
            <a:off x="1428750" y="6534150"/>
            <a:ext cx="371475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52616B"/>
                </a:solidFill>
              </a:defRPr>
            </a:pPr>
            <a:r>
              <a:rPr sz="1950" b="0" dirty="0">
                <a:solidFill>
                  <a:srgbClr val="52616B"/>
                </a:solidFill>
              </a:rPr>
              <a:t>Les données </a:t>
            </a:r>
            <a:r>
              <a:rPr lang="fr-FR" sz="1950" dirty="0">
                <a:solidFill>
                  <a:srgbClr val="52616B"/>
                </a:solidFill>
              </a:rPr>
              <a:t>Eurostat d’indice </a:t>
            </a:r>
            <a:r>
              <a:rPr sz="1950" b="0" dirty="0">
                <a:solidFill>
                  <a:srgbClr val="52616B"/>
                </a:solidFill>
              </a:rPr>
              <a:t>de prix et de </a:t>
            </a:r>
            <a:r>
              <a:rPr sz="1950" b="0" dirty="0" err="1">
                <a:solidFill>
                  <a:srgbClr val="52616B"/>
                </a:solidFill>
              </a:rPr>
              <a:t>consommation</a:t>
            </a:r>
            <a:r>
              <a:rPr sz="1950" b="0" dirty="0">
                <a:solidFill>
                  <a:srgbClr val="52616B"/>
                </a:solidFill>
              </a:rPr>
              <a:t>.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37134393-6FC5-4119-81E6-8FDF17C9FE2D}"/>
              </a:ext>
            </a:extLst>
          </p:cNvPr>
          <p:cNvSpPr>
            <a:spLocks noGrp="1"/>
          </p:cNvSpPr>
          <p:nvPr/>
        </p:nvSpPr>
        <p:spPr>
          <a:xfrm>
            <a:off x="5848350" y="3600450"/>
            <a:ext cx="4476750" cy="4953000"/>
          </a:xfrm>
          <a:prstGeom prst="roundRect">
            <a:avLst>
              <a:gd name="adj" fmla="val 1702"/>
            </a:avLst>
          </a:prstGeom>
          <a:solidFill>
            <a:srgbClr val="F9FAFB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70E37B-254A-49A7-A9E7-DCE38ECEA4CA}"/>
              </a:ext>
            </a:extLst>
          </p:cNvPr>
          <p:cNvSpPr>
            <a:spLocks noGrp="1"/>
          </p:cNvSpPr>
          <p:nvPr/>
        </p:nvSpPr>
        <p:spPr>
          <a:xfrm>
            <a:off x="6229350" y="5029200"/>
            <a:ext cx="37147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F2A541"/>
                </a:solidFill>
              </a:defRPr>
            </a:pPr>
            <a:r>
              <a:rPr sz="4350" b="1">
                <a:solidFill>
                  <a:srgbClr val="F2A541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E6E232-0E2D-4F46-8D46-CD1FB419481B}"/>
              </a:ext>
            </a:extLst>
          </p:cNvPr>
          <p:cNvSpPr>
            <a:spLocks noGrp="1"/>
          </p:cNvSpPr>
          <p:nvPr/>
        </p:nvSpPr>
        <p:spPr>
          <a:xfrm>
            <a:off x="6229350" y="5905500"/>
            <a:ext cx="3714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5202B"/>
                </a:solidFill>
              </a:defRPr>
            </a:pPr>
            <a:r>
              <a:rPr sz="2700" b="1">
                <a:solidFill>
                  <a:srgbClr val="15202B"/>
                </a:solidFill>
              </a:rPr>
              <a:t>Assembler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2E3AFF-C80B-4D62-B43E-C12452046AB6}"/>
              </a:ext>
            </a:extLst>
          </p:cNvPr>
          <p:cNvSpPr>
            <a:spLocks noGrp="1"/>
          </p:cNvSpPr>
          <p:nvPr/>
        </p:nvSpPr>
        <p:spPr>
          <a:xfrm>
            <a:off x="6229350" y="6534150"/>
            <a:ext cx="371475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52616B"/>
                </a:solidFill>
              </a:defRPr>
            </a:pPr>
            <a:r>
              <a:rPr sz="1950" b="0">
                <a:solidFill>
                  <a:srgbClr val="52616B"/>
                </a:solidFill>
              </a:rPr>
              <a:t>Un panier d'inflation par groupe de ménages.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06B459EA-C4FA-4BB6-884D-7B5D0FAB09F0}"/>
              </a:ext>
            </a:extLst>
          </p:cNvPr>
          <p:cNvSpPr>
            <a:spLocks noGrp="1"/>
          </p:cNvSpPr>
          <p:nvPr/>
        </p:nvSpPr>
        <p:spPr>
          <a:xfrm>
            <a:off x="10648950" y="3600450"/>
            <a:ext cx="4476750" cy="4953000"/>
          </a:xfrm>
          <a:prstGeom prst="roundRect">
            <a:avLst>
              <a:gd name="adj" fmla="val 1702"/>
            </a:avLst>
          </a:prstGeom>
          <a:solidFill>
            <a:srgbClr val="F9FAFB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D83EE1-C98D-4F00-A499-3F5DB848FB50}"/>
              </a:ext>
            </a:extLst>
          </p:cNvPr>
          <p:cNvSpPr>
            <a:spLocks noGrp="1"/>
          </p:cNvSpPr>
          <p:nvPr/>
        </p:nvSpPr>
        <p:spPr>
          <a:xfrm>
            <a:off x="11029950" y="5029200"/>
            <a:ext cx="37147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3B5BA5"/>
                </a:solidFill>
              </a:defRPr>
            </a:pPr>
            <a:r>
              <a:rPr sz="4350" b="1">
                <a:solidFill>
                  <a:srgbClr val="3B5BA5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5577DE-F365-4FD0-BE4F-CF5C3A52AF5A}"/>
              </a:ext>
            </a:extLst>
          </p:cNvPr>
          <p:cNvSpPr>
            <a:spLocks noGrp="1"/>
          </p:cNvSpPr>
          <p:nvPr/>
        </p:nvSpPr>
        <p:spPr>
          <a:xfrm>
            <a:off x="11029950" y="5905500"/>
            <a:ext cx="3714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5202B"/>
                </a:solidFill>
              </a:defRPr>
            </a:pPr>
            <a:r>
              <a:rPr sz="2700" b="1">
                <a:solidFill>
                  <a:srgbClr val="15202B"/>
                </a:solidFill>
              </a:rPr>
              <a:t>Visualiser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501EDF-CE10-428E-A939-415FB24F6770}"/>
              </a:ext>
            </a:extLst>
          </p:cNvPr>
          <p:cNvSpPr>
            <a:spLocks noGrp="1"/>
          </p:cNvSpPr>
          <p:nvPr/>
        </p:nvSpPr>
        <p:spPr>
          <a:xfrm>
            <a:off x="11029950" y="6534150"/>
            <a:ext cx="371475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52616B"/>
                </a:solidFill>
              </a:defRPr>
            </a:pPr>
            <a:r>
              <a:rPr sz="1950" b="0" dirty="0">
                <a:solidFill>
                  <a:srgbClr val="52616B"/>
                </a:solidFill>
              </a:rPr>
              <a:t>Des </a:t>
            </a:r>
            <a:r>
              <a:rPr sz="1950" b="0" dirty="0" err="1">
                <a:solidFill>
                  <a:srgbClr val="52616B"/>
                </a:solidFill>
              </a:rPr>
              <a:t>graphiques</a:t>
            </a:r>
            <a:r>
              <a:rPr sz="1950" b="0" dirty="0">
                <a:solidFill>
                  <a:srgbClr val="52616B"/>
                </a:solidFill>
              </a:rPr>
              <a:t> </a:t>
            </a:r>
            <a:r>
              <a:rPr sz="1950" b="0" dirty="0" err="1">
                <a:solidFill>
                  <a:srgbClr val="52616B"/>
                </a:solidFill>
              </a:rPr>
              <a:t>lisibles</a:t>
            </a:r>
            <a:r>
              <a:rPr sz="1950" b="0" dirty="0">
                <a:solidFill>
                  <a:srgbClr val="52616B"/>
                </a:solidFill>
              </a:rPr>
              <a:t> et </a:t>
            </a:r>
            <a:r>
              <a:rPr lang="fr-FR" sz="1950" b="0" dirty="0">
                <a:solidFill>
                  <a:srgbClr val="52616B"/>
                </a:solidFill>
              </a:rPr>
              <a:t>faciles</a:t>
            </a:r>
            <a:r>
              <a:rPr sz="1950" b="0" dirty="0">
                <a:solidFill>
                  <a:srgbClr val="52616B"/>
                </a:solidFill>
              </a:rPr>
              <a:t> à </a:t>
            </a:r>
            <a:r>
              <a:rPr sz="1950" b="0" dirty="0" err="1">
                <a:solidFill>
                  <a:srgbClr val="52616B"/>
                </a:solidFill>
              </a:rPr>
              <a:t>mettre</a:t>
            </a:r>
            <a:r>
              <a:rPr sz="1950" b="0" dirty="0">
                <a:solidFill>
                  <a:srgbClr val="52616B"/>
                </a:solidFill>
              </a:rPr>
              <a:t> à jour.</a:t>
            </a:r>
          </a:p>
        </p:txBody>
      </p:sp>
    </p:spTree>
    <p:extLst>
      <p:ext uri="{BB962C8B-B14F-4D97-AF65-F5344CB8AC3E}">
        <p14:creationId xmlns:p14="http://schemas.microsoft.com/office/powerpoint/2010/main" val="1423363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2C8155B-BA8E-4738-8DC9-E17754A656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B7CAEC-E556-4F7E-96AD-E7E451A3F6BE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6611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FRANCE / REVENU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D2E78D-2010-4FBA-A266-F8F009B20906}"/>
              </a:ext>
            </a:extLst>
          </p:cNvPr>
          <p:cNvSpPr>
            <a:spLocks noGrp="1"/>
          </p:cNvSpPr>
          <p:nvPr/>
        </p:nvSpPr>
        <p:spPr>
          <a:xfrm>
            <a:off x="838200" y="933450"/>
            <a:ext cx="161925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5202B"/>
                </a:solidFill>
              </a:defRPr>
            </a:pPr>
            <a:r>
              <a:rPr sz="3750" b="1" dirty="0">
                <a:solidFill>
                  <a:srgbClr val="15202B"/>
                </a:solidFill>
              </a:rPr>
              <a:t>Inflation par</a:t>
            </a:r>
            <a:r>
              <a:rPr lang="fr-FR" sz="3750" b="1" dirty="0">
                <a:solidFill>
                  <a:srgbClr val="15202B"/>
                </a:solidFill>
              </a:rPr>
              <a:t> tranches de revenu</a:t>
            </a:r>
            <a:endParaRPr sz="3750" b="1" dirty="0">
              <a:solidFill>
                <a:srgbClr val="15202B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4A0FEC-1DAA-4D9B-8E4F-3EB7ACE8B058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49911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Inflation du 1er quintile, du 5e quintile et moyenne.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9F29A37-D8E1-475C-9B99-2D8E6E384488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11049000" cy="6896100"/>
          </a:xfrm>
          <a:prstGeom prst="roundRect">
            <a:avLst>
              <a:gd name="adj" fmla="val 1105"/>
            </a:avLst>
          </a:prstGeom>
          <a:solidFill>
            <a:srgbClr val="FFFFFF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855119"/>
            <a:ext cx="11049000" cy="6215063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87529CD6-0A51-44EB-BC6A-4815DB645629}"/>
              </a:ext>
            </a:extLst>
          </p:cNvPr>
          <p:cNvSpPr>
            <a:spLocks noGrp="1"/>
          </p:cNvSpPr>
          <p:nvPr/>
        </p:nvSpPr>
        <p:spPr>
          <a:xfrm>
            <a:off x="12268200" y="4876800"/>
            <a:ext cx="190500" cy="190500"/>
          </a:xfrm>
          <a:prstGeom prst="ellipse">
            <a:avLst/>
          </a:prstGeom>
          <a:solidFill>
            <a:srgbClr val="1B998B"/>
          </a:solidFill>
          <a:ln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6C2ED5E0-219D-474D-9C97-5695D62C2E4E}"/>
              </a:ext>
            </a:extLst>
          </p:cNvPr>
          <p:cNvSpPr>
            <a:spLocks noGrp="1"/>
          </p:cNvSpPr>
          <p:nvPr/>
        </p:nvSpPr>
        <p:spPr>
          <a:xfrm>
            <a:off x="12611100" y="4857750"/>
            <a:ext cx="48387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Le graphique montre directement le niveau d'inflation par groupe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1BAE591-D6F4-4D8A-ABBC-085AAA96AD85}"/>
              </a:ext>
            </a:extLst>
          </p:cNvPr>
          <p:cNvSpPr>
            <a:spLocks noGrp="1"/>
          </p:cNvSpPr>
          <p:nvPr/>
        </p:nvSpPr>
        <p:spPr>
          <a:xfrm>
            <a:off x="12268200" y="5676900"/>
            <a:ext cx="190500" cy="190500"/>
          </a:xfrm>
          <a:prstGeom prst="ellipse">
            <a:avLst/>
          </a:prstGeom>
          <a:solidFill>
            <a:srgbClr val="1B998B"/>
          </a:solidFill>
          <a:ln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18CDB864-B3D3-47B6-A75A-9D894F73AD37}"/>
              </a:ext>
            </a:extLst>
          </p:cNvPr>
          <p:cNvSpPr>
            <a:spLocks noGrp="1"/>
          </p:cNvSpPr>
          <p:nvPr/>
        </p:nvSpPr>
        <p:spPr>
          <a:xfrm>
            <a:off x="12611100" y="5695950"/>
            <a:ext cx="48387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Les écarts s'ouvrent surtout quand les prix accélèrent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AFB02E-0AC6-49BF-A1B6-D9FF20D7F427}"/>
              </a:ext>
            </a:extLst>
          </p:cNvPr>
          <p:cNvSpPr>
            <a:spLocks noGrp="1"/>
          </p:cNvSpPr>
          <p:nvPr/>
        </p:nvSpPr>
        <p:spPr>
          <a:xfrm>
            <a:off x="12249150" y="6629400"/>
            <a:ext cx="46672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Lecture : chaque ligne montre l'inflation subie par un groupe de ménages.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53DAF4-BDC7-4096-8CD2-FFE5D509E009}"/>
              </a:ext>
            </a:extLst>
          </p:cNvPr>
          <p:cNvSpPr>
            <a:spLocks noGrp="1"/>
          </p:cNvSpPr>
          <p:nvPr/>
        </p:nvSpPr>
        <p:spPr>
          <a:xfrm>
            <a:off x="838200" y="9677400"/>
            <a:ext cx="16611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>
                <a:solidFill>
                  <a:srgbClr val="75828A"/>
                </a:solidFill>
              </a:defRPr>
            </a:pPr>
            <a:r>
              <a:rPr sz="1125" b="0">
                <a:solidFill>
                  <a:srgbClr val="75828A"/>
                </a:solidFill>
              </a:rPr>
              <a:t>Graphiques calculés avec inflationinequality - github.com/JeremiMontornes/inflationinequality</a:t>
            </a:r>
          </a:p>
        </p:txBody>
      </p:sp>
    </p:spTree>
    <p:extLst>
      <p:ext uri="{BB962C8B-B14F-4D97-AF65-F5344CB8AC3E}">
        <p14:creationId xmlns:p14="http://schemas.microsoft.com/office/powerpoint/2010/main" val="1966681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6F083C-9718-4BB4-9F9D-0C059F72E7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46FAF5-7B94-408C-9A7C-FDDF22E04867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6611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FRANCE / ÂGE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251499-6C2A-4021-AE55-414E43AC7B22}"/>
              </a:ext>
            </a:extLst>
          </p:cNvPr>
          <p:cNvSpPr>
            <a:spLocks noGrp="1"/>
          </p:cNvSpPr>
          <p:nvPr/>
        </p:nvSpPr>
        <p:spPr>
          <a:xfrm>
            <a:off x="838200" y="933450"/>
            <a:ext cx="161925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5202B"/>
                </a:solidFill>
              </a:defRPr>
            </a:pPr>
            <a:r>
              <a:rPr sz="3750" b="1">
                <a:solidFill>
                  <a:srgbClr val="15202B"/>
                </a:solidFill>
              </a:rPr>
              <a:t>Inflation par âge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F94A7B-1A81-4C96-B238-8FC8F69AD621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59817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Inflation des moins de 30 ans, des 60 ans ou plus et moyenne.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55B8140-6B4E-4147-B3F1-6417C3260EA5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11049000" cy="6896100"/>
          </a:xfrm>
          <a:prstGeom prst="roundRect">
            <a:avLst>
              <a:gd name="adj" fmla="val 1105"/>
            </a:avLst>
          </a:prstGeom>
          <a:solidFill>
            <a:srgbClr val="FFFFFF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855119"/>
            <a:ext cx="11049000" cy="6215063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3B8BBE35-9D25-4375-A880-A28CD77F91BD}"/>
              </a:ext>
            </a:extLst>
          </p:cNvPr>
          <p:cNvSpPr>
            <a:spLocks noGrp="1"/>
          </p:cNvSpPr>
          <p:nvPr/>
        </p:nvSpPr>
        <p:spPr>
          <a:xfrm>
            <a:off x="12268200" y="4457700"/>
            <a:ext cx="190500" cy="190500"/>
          </a:xfrm>
          <a:prstGeom prst="ellipse">
            <a:avLst/>
          </a:prstGeom>
          <a:solidFill>
            <a:srgbClr val="D95D39"/>
          </a:solidFill>
          <a:ln>
            <a:solidFill>
              <a:srgbClr val="D95D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E0C32FC4-24F7-4CEF-901C-078FBF9BDB86}"/>
              </a:ext>
            </a:extLst>
          </p:cNvPr>
          <p:cNvSpPr>
            <a:spLocks noGrp="1"/>
          </p:cNvSpPr>
          <p:nvPr/>
        </p:nvSpPr>
        <p:spPr>
          <a:xfrm>
            <a:off x="12611100" y="4457700"/>
            <a:ext cx="48387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Le niveau d'inflation se lit sans passer par un écart abstrait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0BF27832-C217-4DD1-AD9A-F1719F07AF59}"/>
              </a:ext>
            </a:extLst>
          </p:cNvPr>
          <p:cNvSpPr>
            <a:spLocks noGrp="1"/>
          </p:cNvSpPr>
          <p:nvPr/>
        </p:nvSpPr>
        <p:spPr>
          <a:xfrm>
            <a:off x="12268200" y="5257800"/>
            <a:ext cx="190500" cy="190500"/>
          </a:xfrm>
          <a:prstGeom prst="ellipse">
            <a:avLst/>
          </a:prstGeom>
          <a:solidFill>
            <a:srgbClr val="D95D39"/>
          </a:solidFill>
          <a:ln>
            <a:solidFill>
              <a:srgbClr val="D95D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BE5E0943-4E8C-4E8E-871A-D6A6AA0C43C6}"/>
              </a:ext>
            </a:extLst>
          </p:cNvPr>
          <p:cNvSpPr>
            <a:spLocks noGrp="1"/>
          </p:cNvSpPr>
          <p:nvPr/>
        </p:nvSpPr>
        <p:spPr>
          <a:xfrm>
            <a:off x="12611100" y="5276850"/>
            <a:ext cx="48387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Les divergences entre lignes signalent un effet de panier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7BEDD5A6-C063-4C2C-88E4-63DA1970D05A}"/>
              </a:ext>
            </a:extLst>
          </p:cNvPr>
          <p:cNvSpPr>
            <a:spLocks noGrp="1"/>
          </p:cNvSpPr>
          <p:nvPr/>
        </p:nvSpPr>
        <p:spPr>
          <a:xfrm>
            <a:off x="12268200" y="6096000"/>
            <a:ext cx="190500" cy="190500"/>
          </a:xfrm>
          <a:prstGeom prst="ellipse">
            <a:avLst/>
          </a:prstGeom>
          <a:solidFill>
            <a:srgbClr val="D95D39"/>
          </a:solidFill>
          <a:ln>
            <a:solidFill>
              <a:srgbClr val="D95D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bullet-3">
            <a:extLst>
              <a:ext uri="{FF2B5EF4-FFF2-40B4-BE49-F238E27FC236}">
                <a16:creationId xmlns:a16="http://schemas.microsoft.com/office/drawing/2014/main" id="{1AD8DD30-055A-4EA2-A0BE-3877BF25334D}"/>
              </a:ext>
            </a:extLst>
          </p:cNvPr>
          <p:cNvSpPr>
            <a:spLocks noGrp="1"/>
          </p:cNvSpPr>
          <p:nvPr/>
        </p:nvSpPr>
        <p:spPr>
          <a:xfrm>
            <a:off x="12611100" y="6096000"/>
            <a:ext cx="48387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Le message reste accessible pour un public non technique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3AD2AD-215E-4518-8CED-3B3094A1A72C}"/>
              </a:ext>
            </a:extLst>
          </p:cNvPr>
          <p:cNvSpPr>
            <a:spLocks noGrp="1"/>
          </p:cNvSpPr>
          <p:nvPr/>
        </p:nvSpPr>
        <p:spPr>
          <a:xfrm>
            <a:off x="12249150" y="7048500"/>
            <a:ext cx="46672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Lecture : chaque ligne montre l'inflation subie par un groupe de ménages.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70F5D1-C182-41D9-82B8-B46A78A4BD1F}"/>
              </a:ext>
            </a:extLst>
          </p:cNvPr>
          <p:cNvSpPr>
            <a:spLocks noGrp="1"/>
          </p:cNvSpPr>
          <p:nvPr/>
        </p:nvSpPr>
        <p:spPr>
          <a:xfrm>
            <a:off x="838200" y="9677400"/>
            <a:ext cx="16611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>
                <a:solidFill>
                  <a:srgbClr val="75828A"/>
                </a:solidFill>
              </a:defRPr>
            </a:pPr>
            <a:r>
              <a:rPr sz="1125" b="0">
                <a:solidFill>
                  <a:srgbClr val="75828A"/>
                </a:solidFill>
              </a:rPr>
              <a:t>Graphiques calculés avec inflationinequality - github.com/JeremiMontornes/inflationinequality</a:t>
            </a:r>
          </a:p>
        </p:txBody>
      </p:sp>
    </p:spTree>
    <p:extLst>
      <p:ext uri="{BB962C8B-B14F-4D97-AF65-F5344CB8AC3E}">
        <p14:creationId xmlns:p14="http://schemas.microsoft.com/office/powerpoint/2010/main" val="1265605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FA89FCE-7940-4581-A369-97F15B9DB5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E7065C-3EF1-44BD-B943-91DE464E560E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6611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FRANCE / RÉSIDENCE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4A56AE-F53B-4F57-B4F8-C58E4B549643}"/>
              </a:ext>
            </a:extLst>
          </p:cNvPr>
          <p:cNvSpPr>
            <a:spLocks noGrp="1"/>
          </p:cNvSpPr>
          <p:nvPr/>
        </p:nvSpPr>
        <p:spPr>
          <a:xfrm>
            <a:off x="838200" y="933450"/>
            <a:ext cx="161925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5202B"/>
                </a:solidFill>
              </a:defRPr>
            </a:pPr>
            <a:r>
              <a:rPr sz="3750" b="1">
                <a:solidFill>
                  <a:srgbClr val="15202B"/>
                </a:solidFill>
              </a:rPr>
              <a:t>Inflation par zone de résidence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E3D216-3828-4DEF-A30F-29E6BBCB93C1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40957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Inflation par zone de résidence, en niveau.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8DC48E0-78A6-4797-8858-67E189EB3EA8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11049000" cy="6896100"/>
          </a:xfrm>
          <a:prstGeom prst="roundRect">
            <a:avLst>
              <a:gd name="adj" fmla="val 1105"/>
            </a:avLst>
          </a:prstGeom>
          <a:solidFill>
            <a:srgbClr val="FFFFFF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855119"/>
            <a:ext cx="11049000" cy="6215063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E5074CC4-7493-4BB4-BDA9-2EECA2A2BAB1}"/>
              </a:ext>
            </a:extLst>
          </p:cNvPr>
          <p:cNvSpPr>
            <a:spLocks noGrp="1"/>
          </p:cNvSpPr>
          <p:nvPr/>
        </p:nvSpPr>
        <p:spPr>
          <a:xfrm>
            <a:off x="12268200" y="4457700"/>
            <a:ext cx="190500" cy="190500"/>
          </a:xfrm>
          <a:prstGeom prst="ellipse">
            <a:avLst/>
          </a:prstGeom>
          <a:solidFill>
            <a:srgbClr val="3B5BA5"/>
          </a:solidFill>
          <a:ln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7A853BEB-9D47-42B9-B536-709F0A022E43}"/>
              </a:ext>
            </a:extLst>
          </p:cNvPr>
          <p:cNvSpPr>
            <a:spLocks noGrp="1"/>
          </p:cNvSpPr>
          <p:nvPr/>
        </p:nvSpPr>
        <p:spPr>
          <a:xfrm>
            <a:off x="12611100" y="4457700"/>
            <a:ext cx="48387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Les trajectoires rendent visible le rôle du lieu de résidence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D2A6131-7A56-458A-8673-4957DF772FB3}"/>
              </a:ext>
            </a:extLst>
          </p:cNvPr>
          <p:cNvSpPr>
            <a:spLocks noGrp="1"/>
          </p:cNvSpPr>
          <p:nvPr/>
        </p:nvSpPr>
        <p:spPr>
          <a:xfrm>
            <a:off x="12268200" y="5257800"/>
            <a:ext cx="190500" cy="190500"/>
          </a:xfrm>
          <a:prstGeom prst="ellipse">
            <a:avLst/>
          </a:prstGeom>
          <a:solidFill>
            <a:srgbClr val="3B5BA5"/>
          </a:solidFill>
          <a:ln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C58B94D8-7406-4182-9679-9214A70CB618}"/>
              </a:ext>
            </a:extLst>
          </p:cNvPr>
          <p:cNvSpPr>
            <a:spLocks noGrp="1"/>
          </p:cNvSpPr>
          <p:nvPr/>
        </p:nvSpPr>
        <p:spPr>
          <a:xfrm>
            <a:off x="12611100" y="5276850"/>
            <a:ext cx="48387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La comparaison reste lisible même en présentation grand public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0B3638A-2E1F-49BC-9872-BABC50DA0C91}"/>
              </a:ext>
            </a:extLst>
          </p:cNvPr>
          <p:cNvSpPr>
            <a:spLocks noGrp="1"/>
          </p:cNvSpPr>
          <p:nvPr/>
        </p:nvSpPr>
        <p:spPr>
          <a:xfrm>
            <a:off x="12268200" y="6096000"/>
            <a:ext cx="190500" cy="190500"/>
          </a:xfrm>
          <a:prstGeom prst="ellipse">
            <a:avLst/>
          </a:prstGeom>
          <a:solidFill>
            <a:srgbClr val="3B5BA5"/>
          </a:solidFill>
          <a:ln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bullet-3">
            <a:extLst>
              <a:ext uri="{FF2B5EF4-FFF2-40B4-BE49-F238E27FC236}">
                <a16:creationId xmlns:a16="http://schemas.microsoft.com/office/drawing/2014/main" id="{6F714922-7D5C-42B0-BCC1-517618709BDC}"/>
              </a:ext>
            </a:extLst>
          </p:cNvPr>
          <p:cNvSpPr>
            <a:spLocks noGrp="1"/>
          </p:cNvSpPr>
          <p:nvPr/>
        </p:nvSpPr>
        <p:spPr>
          <a:xfrm>
            <a:off x="12611100" y="6096000"/>
            <a:ext cx="48387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Elle prépare naturellement la décomposition par postes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1FADE3-88CA-4E84-A97F-C19238F23BC8}"/>
              </a:ext>
            </a:extLst>
          </p:cNvPr>
          <p:cNvSpPr>
            <a:spLocks noGrp="1"/>
          </p:cNvSpPr>
          <p:nvPr/>
        </p:nvSpPr>
        <p:spPr>
          <a:xfrm>
            <a:off x="12249150" y="7048500"/>
            <a:ext cx="46672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Lecture : chaque ligne montre l'inflation subie par un groupe de ménages.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86E86E-9D06-4F04-A01B-EEDBC643376B}"/>
              </a:ext>
            </a:extLst>
          </p:cNvPr>
          <p:cNvSpPr>
            <a:spLocks noGrp="1"/>
          </p:cNvSpPr>
          <p:nvPr/>
        </p:nvSpPr>
        <p:spPr>
          <a:xfrm>
            <a:off x="838200" y="9677400"/>
            <a:ext cx="16611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>
                <a:solidFill>
                  <a:srgbClr val="75828A"/>
                </a:solidFill>
              </a:defRPr>
            </a:pPr>
            <a:r>
              <a:rPr sz="1125" b="0">
                <a:solidFill>
                  <a:srgbClr val="75828A"/>
                </a:solidFill>
              </a:rPr>
              <a:t>Graphiques calculés avec inflationinequality - github.com/JeremiMontornes/inflationinequality</a:t>
            </a:r>
          </a:p>
        </p:txBody>
      </p:sp>
    </p:spTree>
    <p:extLst>
      <p:ext uri="{BB962C8B-B14F-4D97-AF65-F5344CB8AC3E}">
        <p14:creationId xmlns:p14="http://schemas.microsoft.com/office/powerpoint/2010/main" val="1182310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DE0795C-39DF-440E-9B39-9FCDB7634F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CD4259-8BE1-49F9-8D38-1A7B7C0DD27C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6611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FRANCE / CONTRIBUTIONS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CA660A-7A89-4346-A87B-AE2C32A224D9}"/>
              </a:ext>
            </a:extLst>
          </p:cNvPr>
          <p:cNvSpPr>
            <a:spLocks noGrp="1"/>
          </p:cNvSpPr>
          <p:nvPr/>
        </p:nvSpPr>
        <p:spPr>
          <a:xfrm>
            <a:off x="838200" y="933450"/>
            <a:ext cx="161925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5202B"/>
                </a:solidFill>
              </a:defRPr>
            </a:pPr>
            <a:r>
              <a:rPr sz="3750" b="1">
                <a:solidFill>
                  <a:srgbClr val="15202B"/>
                </a:solidFill>
              </a:rPr>
              <a:t>Rural-villes : les postes qui fabriquent l'écart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8B57EB-DB47-4AD3-9E16-C4FECF2CCE78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60007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Contribution des postes de consommation à l'écart d'inflation.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2868123-D645-4782-A2DE-0F366D455E57}"/>
              </a:ext>
            </a:extLst>
          </p:cNvPr>
          <p:cNvSpPr>
            <a:spLocks noGrp="1"/>
          </p:cNvSpPr>
          <p:nvPr/>
        </p:nvSpPr>
        <p:spPr>
          <a:xfrm>
            <a:off x="838200" y="2209800"/>
            <a:ext cx="11049000" cy="7200900"/>
          </a:xfrm>
          <a:prstGeom prst="roundRect">
            <a:avLst>
              <a:gd name="adj" fmla="val 1058"/>
            </a:avLst>
          </a:prstGeom>
          <a:solidFill>
            <a:srgbClr val="FFFFFF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702719"/>
            <a:ext cx="11049000" cy="6215063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3FA5D54D-2D80-4CA2-9F15-9D2246ED04FE}"/>
              </a:ext>
            </a:extLst>
          </p:cNvPr>
          <p:cNvSpPr>
            <a:spLocks noGrp="1"/>
          </p:cNvSpPr>
          <p:nvPr/>
        </p:nvSpPr>
        <p:spPr>
          <a:xfrm>
            <a:off x="12268200" y="4305300"/>
            <a:ext cx="190500" cy="190500"/>
          </a:xfrm>
          <a:prstGeom prst="ellipse">
            <a:avLst/>
          </a:prstGeom>
          <a:solidFill>
            <a:srgbClr val="3B5BA5"/>
          </a:solidFill>
          <a:ln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6085C0B5-B568-4C8B-90B2-CB72DD56E1F9}"/>
              </a:ext>
            </a:extLst>
          </p:cNvPr>
          <p:cNvSpPr>
            <a:spLocks noGrp="1"/>
          </p:cNvSpPr>
          <p:nvPr/>
        </p:nvSpPr>
        <p:spPr>
          <a:xfrm>
            <a:off x="12611100" y="4305300"/>
            <a:ext cx="48387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Les barres décomposent l'écart rural-villes poste par poste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591FEB7-12CE-4A1D-874B-1215A8D79A6B}"/>
              </a:ext>
            </a:extLst>
          </p:cNvPr>
          <p:cNvSpPr>
            <a:spLocks noGrp="1"/>
          </p:cNvSpPr>
          <p:nvPr/>
        </p:nvSpPr>
        <p:spPr>
          <a:xfrm>
            <a:off x="12268200" y="5105400"/>
            <a:ext cx="190500" cy="190500"/>
          </a:xfrm>
          <a:prstGeom prst="ellipse">
            <a:avLst/>
          </a:prstGeom>
          <a:solidFill>
            <a:srgbClr val="3B5BA5"/>
          </a:solidFill>
          <a:ln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E6464B23-A830-4C9C-8CD5-E49DD16F1B1C}"/>
              </a:ext>
            </a:extLst>
          </p:cNvPr>
          <p:cNvSpPr>
            <a:spLocks noGrp="1"/>
          </p:cNvSpPr>
          <p:nvPr/>
        </p:nvSpPr>
        <p:spPr>
          <a:xfrm>
            <a:off x="12611100" y="5124450"/>
            <a:ext cx="48387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Transport et énergie rendent le territoire immédiatement lisible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A7E5315-5ED0-41FA-B420-C515CC9FD3E1}"/>
              </a:ext>
            </a:extLst>
          </p:cNvPr>
          <p:cNvSpPr>
            <a:spLocks noGrp="1"/>
          </p:cNvSpPr>
          <p:nvPr/>
        </p:nvSpPr>
        <p:spPr>
          <a:xfrm>
            <a:off x="12268200" y="5943600"/>
            <a:ext cx="190500" cy="190500"/>
          </a:xfrm>
          <a:prstGeom prst="ellipse">
            <a:avLst/>
          </a:prstGeom>
          <a:solidFill>
            <a:srgbClr val="3B5BA5"/>
          </a:solidFill>
          <a:ln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bullet-3">
            <a:extLst>
              <a:ext uri="{FF2B5EF4-FFF2-40B4-BE49-F238E27FC236}">
                <a16:creationId xmlns:a16="http://schemas.microsoft.com/office/drawing/2014/main" id="{DE9D43FA-3A9B-458E-B81D-381EAB4898BE}"/>
              </a:ext>
            </a:extLst>
          </p:cNvPr>
          <p:cNvSpPr>
            <a:spLocks noGrp="1"/>
          </p:cNvSpPr>
          <p:nvPr/>
        </p:nvSpPr>
        <p:spPr>
          <a:xfrm>
            <a:off x="12611100" y="5943600"/>
            <a:ext cx="48387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La ligne noire résume l'écart total entre les deux groupes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21623F-C6AC-4673-A793-C11EFBE306A6}"/>
              </a:ext>
            </a:extLst>
          </p:cNvPr>
          <p:cNvSpPr>
            <a:spLocks noGrp="1"/>
          </p:cNvSpPr>
          <p:nvPr/>
        </p:nvSpPr>
        <p:spPr>
          <a:xfrm>
            <a:off x="12249150" y="6896100"/>
            <a:ext cx="461010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Lecture : un écart positif signifie que le rural subit une inflation plus élevée que les villes.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E57603-FC1D-4B11-A10C-0690A1E90A67}"/>
              </a:ext>
            </a:extLst>
          </p:cNvPr>
          <p:cNvSpPr>
            <a:spLocks noGrp="1"/>
          </p:cNvSpPr>
          <p:nvPr/>
        </p:nvSpPr>
        <p:spPr>
          <a:xfrm>
            <a:off x="838200" y="9677400"/>
            <a:ext cx="16611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>
                <a:solidFill>
                  <a:srgbClr val="75828A"/>
                </a:solidFill>
              </a:defRPr>
            </a:pPr>
            <a:r>
              <a:rPr sz="1125" b="0">
                <a:solidFill>
                  <a:srgbClr val="75828A"/>
                </a:solidFill>
              </a:rPr>
              <a:t>Graphiques calculés avec inflationinequality - github.com/JeremiMontornes/inflationinequality</a:t>
            </a:r>
          </a:p>
        </p:txBody>
      </p:sp>
    </p:spTree>
    <p:extLst>
      <p:ext uri="{BB962C8B-B14F-4D97-AF65-F5344CB8AC3E}">
        <p14:creationId xmlns:p14="http://schemas.microsoft.com/office/powerpoint/2010/main" val="221937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98A83EF-5648-42A3-B4C9-85A2586522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950A4E-4A30-4919-A2D0-A8D339717CC3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6611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LETTONIE / REVENU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9C061A-4E9C-4166-A695-4E26EA99F650}"/>
              </a:ext>
            </a:extLst>
          </p:cNvPr>
          <p:cNvSpPr>
            <a:spLocks noGrp="1"/>
          </p:cNvSpPr>
          <p:nvPr/>
        </p:nvSpPr>
        <p:spPr>
          <a:xfrm>
            <a:off x="838200" y="933450"/>
            <a:ext cx="161925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5202B"/>
                </a:solidFill>
              </a:defRPr>
            </a:pPr>
            <a:r>
              <a:rPr sz="3750" b="1">
                <a:solidFill>
                  <a:srgbClr val="15202B"/>
                </a:solidFill>
              </a:rPr>
              <a:t>Inflation par niveau de vie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1EA58B-9130-4162-8F6B-D5C922BB3BED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49911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Inflation du 1er quintile, du 5e quintile et moyenne.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14510A8B-F571-434F-844A-A0C352A929F8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11049000" cy="6896100"/>
          </a:xfrm>
          <a:prstGeom prst="roundRect">
            <a:avLst>
              <a:gd name="adj" fmla="val 1105"/>
            </a:avLst>
          </a:prstGeom>
          <a:solidFill>
            <a:srgbClr val="FFFFFF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855119"/>
            <a:ext cx="11049000" cy="6215063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D77CB444-C8C2-492F-81D5-BDBAD33EFF0D}"/>
              </a:ext>
            </a:extLst>
          </p:cNvPr>
          <p:cNvSpPr>
            <a:spLocks noGrp="1"/>
          </p:cNvSpPr>
          <p:nvPr/>
        </p:nvSpPr>
        <p:spPr>
          <a:xfrm>
            <a:off x="12268200" y="4457700"/>
            <a:ext cx="190500" cy="19050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D8C632C9-8DD7-4763-8854-4CC8474F6075}"/>
              </a:ext>
            </a:extLst>
          </p:cNvPr>
          <p:cNvSpPr>
            <a:spLocks noGrp="1"/>
          </p:cNvSpPr>
          <p:nvPr/>
        </p:nvSpPr>
        <p:spPr>
          <a:xfrm>
            <a:off x="12611100" y="4457700"/>
            <a:ext cx="48387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La même visualisation peut être reproduite pour un autre pays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00C916B-6682-4796-85BC-0FF2C63112E7}"/>
              </a:ext>
            </a:extLst>
          </p:cNvPr>
          <p:cNvSpPr>
            <a:spLocks noGrp="1"/>
          </p:cNvSpPr>
          <p:nvPr/>
        </p:nvSpPr>
        <p:spPr>
          <a:xfrm>
            <a:off x="12268200" y="5257800"/>
            <a:ext cx="190500" cy="19050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15B69806-70F6-43F8-ABB9-2232E0944F07}"/>
              </a:ext>
            </a:extLst>
          </p:cNvPr>
          <p:cNvSpPr>
            <a:spLocks noGrp="1"/>
          </p:cNvSpPr>
          <p:nvPr/>
        </p:nvSpPr>
        <p:spPr>
          <a:xfrm>
            <a:off x="12611100" y="5276850"/>
            <a:ext cx="48387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Le choc inflationniste est plus marqué dans les pays baltes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5B468CF1-A2C2-4BF9-B9C0-EA9217BF1D4E}"/>
              </a:ext>
            </a:extLst>
          </p:cNvPr>
          <p:cNvSpPr>
            <a:spLocks noGrp="1"/>
          </p:cNvSpPr>
          <p:nvPr/>
        </p:nvSpPr>
        <p:spPr>
          <a:xfrm>
            <a:off x="12268200" y="6096000"/>
            <a:ext cx="190500" cy="19050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bullet-3">
            <a:extLst>
              <a:ext uri="{FF2B5EF4-FFF2-40B4-BE49-F238E27FC236}">
                <a16:creationId xmlns:a16="http://schemas.microsoft.com/office/drawing/2014/main" id="{05E2406D-4EEE-4738-BBBF-5752C7AA2800}"/>
              </a:ext>
            </a:extLst>
          </p:cNvPr>
          <p:cNvSpPr>
            <a:spLocks noGrp="1"/>
          </p:cNvSpPr>
          <p:nvPr/>
        </p:nvSpPr>
        <p:spPr>
          <a:xfrm>
            <a:off x="12611100" y="6096000"/>
            <a:ext cx="48387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La comparaison reste lisible avec la même grammaire graphique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AAD6FF-5E00-4E7D-BF71-AA89062BB044}"/>
              </a:ext>
            </a:extLst>
          </p:cNvPr>
          <p:cNvSpPr>
            <a:spLocks noGrp="1"/>
          </p:cNvSpPr>
          <p:nvPr/>
        </p:nvSpPr>
        <p:spPr>
          <a:xfrm>
            <a:off x="12249150" y="7048500"/>
            <a:ext cx="46672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Lecture : chaque ligne montre l'inflation subie par un groupe de ménages.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DD5EB1-5280-49EE-9A97-13FBD007D61F}"/>
              </a:ext>
            </a:extLst>
          </p:cNvPr>
          <p:cNvSpPr>
            <a:spLocks noGrp="1"/>
          </p:cNvSpPr>
          <p:nvPr/>
        </p:nvSpPr>
        <p:spPr>
          <a:xfrm>
            <a:off x="838200" y="9677400"/>
            <a:ext cx="16611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>
                <a:solidFill>
                  <a:srgbClr val="75828A"/>
                </a:solidFill>
              </a:defRPr>
            </a:pPr>
            <a:r>
              <a:rPr sz="1125" b="0">
                <a:solidFill>
                  <a:srgbClr val="75828A"/>
                </a:solidFill>
              </a:rPr>
              <a:t>Graphiques calculés avec inflationinequality - github.com/JeremiMontornes/inflationinequality</a:t>
            </a:r>
          </a:p>
        </p:txBody>
      </p:sp>
    </p:spTree>
    <p:extLst>
      <p:ext uri="{BB962C8B-B14F-4D97-AF65-F5344CB8AC3E}">
        <p14:creationId xmlns:p14="http://schemas.microsoft.com/office/powerpoint/2010/main" val="188363617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</Words>
  <Application>Microsoft Office PowerPoint</Application>
  <DocSecurity>0</DocSecurity>
  <PresentationFormat>Personnalisé</PresentationFormat>
  <Paragraphs>65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montornes jeremi</cp:lastModifiedBy>
  <cp:revision>1</cp:revision>
  <dcterms:created xsi:type="dcterms:W3CDTF">2026-05-17T02:12:56Z</dcterms:created>
  <dcterms:modified xsi:type="dcterms:W3CDTF">2026-05-17T06:02:26Z</dcterms:modified>
</cp:coreProperties>
</file>