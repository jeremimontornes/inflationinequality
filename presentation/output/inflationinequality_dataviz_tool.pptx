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a70a247684a81" /><Relationship Type="http://schemas.openxmlformats.org/officeDocument/2006/relationships/extended-properties" Target="/docProps/app.xml" Id="R2e3952457e8f46cd" /><Relationship Type="http://schemas.openxmlformats.org/officeDocument/2006/relationships/officeDocument" Target="/ppt/presentation.xml" Id="R48f3aafbfebb45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05943711f4aab"/>
  </p:sldMasterIdLst>
  <p:notesMasterIdLst>
    <p:notesMasterId xmlns:r="http://schemas.openxmlformats.org/officeDocument/2006/relationships" r:id="Rc28c0169c3e54953"/>
  </p:notesMasterIdLst>
  <p:sldIdLst>
    <p:sldId xmlns:r="http://schemas.openxmlformats.org/officeDocument/2006/relationships" id="256" r:id="Ra42dc745c4fe4d97"/>
    <p:sldId xmlns:r="http://schemas.openxmlformats.org/officeDocument/2006/relationships" id="257" r:id="Rfdb412a2a07a4b3a"/>
    <p:sldId xmlns:r="http://schemas.openxmlformats.org/officeDocument/2006/relationships" id="258" r:id="R147f5ebf177e4874"/>
    <p:sldId xmlns:r="http://schemas.openxmlformats.org/officeDocument/2006/relationships" id="259" r:id="R7ea5fe5acbc643d5"/>
    <p:sldId xmlns:r="http://schemas.openxmlformats.org/officeDocument/2006/relationships" id="260" r:id="Rcc53182c02eb44b1"/>
    <p:sldId xmlns:r="http://schemas.openxmlformats.org/officeDocument/2006/relationships" id="261" r:id="Rc58a79ec99e44402"/>
    <p:sldId xmlns:r="http://schemas.openxmlformats.org/officeDocument/2006/relationships" id="262" r:id="R714bbd7737e84786"/>
    <p:sldId xmlns:r="http://schemas.openxmlformats.org/officeDocument/2006/relationships" id="263" r:id="Rf938ed67c5424129"/>
    <p:sldId xmlns:r="http://schemas.openxmlformats.org/officeDocument/2006/relationships" id="264" r:id="R3726fe6f497749b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05943711f4aab" /><Relationship Type="http://schemas.openxmlformats.org/officeDocument/2006/relationships/theme" Target="/ppt/theme/theme1.xml" Id="R59cb6e7eaaaa45e6" /><Relationship Type="http://schemas.openxmlformats.org/officeDocument/2006/relationships/notesMaster" Target="/ppt/notesMasters/notesMaster1.xml" Id="Rc28c0169c3e54953" /><Relationship Type="http://schemas.openxmlformats.org/officeDocument/2006/relationships/presProps" Target="/ppt/presProps.xml" Id="R094e234b927e45a9" /><Relationship Type="http://schemas.openxmlformats.org/officeDocument/2006/relationships/viewProps" Target="/ppt/viewProps.xml" Id="R00a000f548c54978" /><Relationship Type="http://schemas.openxmlformats.org/officeDocument/2006/relationships/tableStyles" Target="/ppt/tableStyles.xml" Id="R00c45693c93f4b73" /><Relationship Type="http://schemas.openxmlformats.org/officeDocument/2006/relationships/slide" Target="/ppt/slides/slide1.xml" Id="Ra42dc745c4fe4d97" /><Relationship Type="http://schemas.openxmlformats.org/officeDocument/2006/relationships/slide" Target="/ppt/slides/slide2.xml" Id="Rfdb412a2a07a4b3a" /><Relationship Type="http://schemas.openxmlformats.org/officeDocument/2006/relationships/slide" Target="/ppt/slides/slide3.xml" Id="R147f5ebf177e4874" /><Relationship Type="http://schemas.openxmlformats.org/officeDocument/2006/relationships/slide" Target="/ppt/slides/slide4.xml" Id="R7ea5fe5acbc643d5" /><Relationship Type="http://schemas.openxmlformats.org/officeDocument/2006/relationships/slide" Target="/ppt/slides/slide5.xml" Id="Rcc53182c02eb44b1" /><Relationship Type="http://schemas.openxmlformats.org/officeDocument/2006/relationships/slide" Target="/ppt/slides/slide6.xml" Id="Rc58a79ec99e44402" /><Relationship Type="http://schemas.openxmlformats.org/officeDocument/2006/relationships/slide" Target="/ppt/slides/slide7.xml" Id="R714bbd7737e84786" /><Relationship Type="http://schemas.openxmlformats.org/officeDocument/2006/relationships/slide" Target="/ppt/slides/slide8.xml" Id="Rf938ed67c5424129" /><Relationship Type="http://schemas.openxmlformats.org/officeDocument/2006/relationships/slide" Target="/ppt/slides/slide9.xml" Id="R3726fe6f497749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46cb08530c4e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6da3bc2c8f4c44" /><Relationship Type="http://schemas.openxmlformats.org/officeDocument/2006/relationships/notesMaster" Target="/ppt/notesMasters/notesMaster1.xml" Id="R43ee2ff6df2745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783b8649134f07" /><Relationship Type="http://schemas.openxmlformats.org/officeDocument/2006/relationships/notesMaster" Target="/ppt/notesMasters/notesMaster1.xml" Id="Rb814922de3e449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6858c13804366" /><Relationship Type="http://schemas.openxmlformats.org/officeDocument/2006/relationships/notesMaster" Target="/ppt/notesMasters/notesMaster1.xml" Id="Ra575032b5ecf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98ab80be554644" /><Relationship Type="http://schemas.openxmlformats.org/officeDocument/2006/relationships/notesMaster" Target="/ppt/notesMasters/notesMaster1.xml" Id="Re72365c73d0c4a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5a55b32f6b4d9c" /><Relationship Type="http://schemas.openxmlformats.org/officeDocument/2006/relationships/notesMaster" Target="/ppt/notesMasters/notesMaster1.xml" Id="R366b2751825a49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4742d2926548e3" /><Relationship Type="http://schemas.openxmlformats.org/officeDocument/2006/relationships/notesMaster" Target="/ppt/notesMasters/notesMaster1.xml" Id="R0aa7afe4683644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d05d0c0f174393" /><Relationship Type="http://schemas.openxmlformats.org/officeDocument/2006/relationships/notesMaster" Target="/ppt/notesMasters/notesMaster1.xml" Id="Rb19f2a7d79a94c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e3546d927c4337" /><Relationship Type="http://schemas.openxmlformats.org/officeDocument/2006/relationships/notesMaster" Target="/ppt/notesMasters/notesMaster1.xml" Id="R411c4648721844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e3eb009b074819" /><Relationship Type="http://schemas.openxmlformats.org/officeDocument/2006/relationships/notesMaster" Target="/ppt/notesMasters/notesMaster1.xml" Id="Rb03f9236bea1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b9d22421e40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4535fbdf944a25" /><Relationship Type="http://schemas.openxmlformats.org/officeDocument/2006/relationships/slideLayout" Target="/ppt/slideLayouts/slideLayout2.xml" Id="R77a4c63c148348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4c63c148348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0c36a7ae64da1" /><Relationship Type="http://schemas.openxmlformats.org/officeDocument/2006/relationships/notesSlide" Target="/ppt/notesSlides/notesSlide1.xml" Id="R42566e9e7e3d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a55da6a3c4a97" /><Relationship Type="http://schemas.openxmlformats.org/officeDocument/2006/relationships/notesSlide" Target="/ppt/notesSlides/notesSlide2.xml" Id="Rb3906ccace5d4a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67a77733f40d5" /><Relationship Type="http://schemas.openxmlformats.org/officeDocument/2006/relationships/notesSlide" Target="/ppt/notesSlides/notesSlide3.xml" Id="R7e16944670a744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b182bacdb4360" /><Relationship Type="http://schemas.openxmlformats.org/officeDocument/2006/relationships/notesSlide" Target="/ppt/notesSlides/notesSlide4.xml" Id="R5c16c5f111b148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661d419184084" /><Relationship Type="http://schemas.openxmlformats.org/officeDocument/2006/relationships/image" Target="/ppt/media/image.png" Id="R1805f5b24d6a499d" /><Relationship Type="http://schemas.openxmlformats.org/officeDocument/2006/relationships/notesSlide" Target="/ppt/notesSlides/notesSlide5.xml" Id="R4754fe6a214b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6d737cd4e4faa" /><Relationship Type="http://schemas.openxmlformats.org/officeDocument/2006/relationships/image" Target="/ppt/media/image2.png" Id="R675f127fc5f74438" /><Relationship Type="http://schemas.openxmlformats.org/officeDocument/2006/relationships/notesSlide" Target="/ppt/notesSlides/notesSlide6.xml" Id="R4b1a110c296e43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45a7f899c4303" /><Relationship Type="http://schemas.openxmlformats.org/officeDocument/2006/relationships/image" Target="/ppt/media/image3.png" Id="R38d5338ee2634cce" /><Relationship Type="http://schemas.openxmlformats.org/officeDocument/2006/relationships/notesSlide" Target="/ppt/notesSlides/notesSlide7.xml" Id="Rffea66ac82a94d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6715993744d61" /><Relationship Type="http://schemas.openxmlformats.org/officeDocument/2006/relationships/image" Target="/ppt/media/image4.png" Id="R180034a7407e4ccb" /><Relationship Type="http://schemas.openxmlformats.org/officeDocument/2006/relationships/notesSlide" Target="/ppt/notesSlides/notesSlide8.xml" Id="R7390a4f56e7a47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4f4c9f5ad4b04" /><Relationship Type="http://schemas.openxmlformats.org/officeDocument/2006/relationships/image" Target="/ppt/media/image5.png" Id="Rfe79ea8d1845487a" /><Relationship Type="http://schemas.openxmlformats.org/officeDocument/2006/relationships/notesSlide" Target="/ppt/notesSlides/notesSlide9.xml" Id="R2efd2669ba2c42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AB892-8EEC-497D-B1F7-DFBB5EAD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CC7AC-62F9-4023-9C6B-8F1E3527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CF842-7649-4667-9684-50978940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>
            <a:solidFill>
              <a:srgbClr val="F6F8F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01626-F55E-431B-9DFB-0835A696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723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E53C0-8DA3-4AD1-B17A-F76B1BF3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7630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998B"/>
                </a:solidFill>
              </a:defRPr>
            </a:pPr>
            <a:r>
              <a:t>INFLATIONINEQUALITY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72F83-2BCF-425A-BAFF-1BBEFCF8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92202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5202B"/>
                </a:solidFill>
              </a:defRPr>
            </a:pPr>
            <a:r>
              <a:t>Voir l'inflation que la moyenne ne montre pas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AC8D9-6E42-45A3-B01D-3AA1F6B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880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16B"/>
                </a:solidFill>
              </a:defRPr>
            </a:pPr>
            <a:r>
              <a:t>Un package R pour produire rapidement des datavisualisations publiques, reproductibles et mises à jour à faible coût.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29676-BB15-43E6-A783-3D8DE6EB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>
            <a:solidFill>
              <a:srgbClr val="F2A541"/>
            </a:solidFill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B80A4496-650A-4365-898B-EC4DA425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859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Données publiques : IPC, HBS et pondérations de consommation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3ADC8-A1A8-4475-86EC-5F08C437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>
            <a:solidFill>
              <a:srgbClr val="F2A541"/>
            </a:solidFill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8E41F02E-7EB0-45C1-B679-9C3B7B5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72050"/>
            <a:ext cx="859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Code disponible sur GitHub, donc vérifiable et réutilisable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20088-51D3-4C26-9DC2-855E841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>
            <a:solidFill>
              <a:srgbClr val="F2A541"/>
            </a:solidFill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21671376-4AB5-40D8-A580-7ED3D37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10200"/>
            <a:ext cx="859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Format pensé pour des présentations publiques, policy ou recherche</a:t>
            </a:r>
          </a:p>
        </p:txBody>
      </p:sp>
    </p:spTree>
    <p:extLst>
      <p:ext uri="{BB962C8B-B14F-4D97-AF65-F5344CB8AC3E}">
        <p14:creationId xmlns:p14="http://schemas.microsoft.com/office/powerpoint/2010/main" val="19193759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50BAE-1B1F-4529-BCDB-7D19E793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3EB80-5377-45EF-B624-7DB2D5DE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"/>
            <a:ext cx="1600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POURQUOI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F9B8D-9708-403B-9582-C206C676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L'inflation moyenne ne raconte pas toute l'histoire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25DB1-4993-4DC0-9CD5-2D99CBC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666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Un même choc de prix ne touche pas les ménages de la même façon.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7D176-3EEF-4132-BB1C-009C3CAA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5676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202B"/>
                </a:solidFill>
              </a:defRPr>
            </a:pPr>
            <a:r>
              <a:t>Même choc de prix, paniers différents.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AA63B-6EBA-4EDD-B04E-8AF03643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5467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B"/>
                </a:solidFill>
              </a:defRPr>
            </a:pPr>
            <a:r>
              <a:t>L'outil transforme cette intuition en graphiques simples, mensuels et comparables.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E2AD3-B4B8-44AC-AFFF-C07FAE5F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76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F497474D-9F64-4A23-BFC4-096637D3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57850"/>
            <a:ext cx="9029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t>Les paniers de consommation varient selon les ménages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3B8A3-94D1-4B36-B1F3-EE724078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134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6A4F98B-2826-4861-BCA0-D2F9F49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153150"/>
            <a:ext cx="9029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t>Les écarts deviennent visibles quand les prix bougent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B9DE6-99F9-453D-BFB1-2F4F697A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62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3E0C6E0A-3EBA-4331-A9E7-9882F1C1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629400"/>
            <a:ext cx="9029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t>La datavisualisation aide à raconter le phénomène sans jargon</a:t>
            </a:r>
          </a:p>
        </p:txBody>
      </p:sp>
    </p:spTree>
    <p:extLst>
      <p:ext uri="{BB962C8B-B14F-4D97-AF65-F5344CB8AC3E}">
        <p14:creationId xmlns:p14="http://schemas.microsoft.com/office/powerpoint/2010/main" val="18193294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FC588-122D-4DDB-B162-622DF1B6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1DBB0-3D8A-4FD1-8C54-2D8C2975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"/>
            <a:ext cx="1619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L'OUTIL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7E793-1B25-4AD4-B9DC-407B7479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0490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Un package R pour passer des données au graphique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8CC0B-2F5B-4206-A052-F68D8D26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834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L'objectif est de rendre la mise à jour plus simple, pas d'ajouter une couche technique.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3AAD5-A07E-45CC-8908-0914B3CB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476750" cy="4953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90AC7-F802-468B-BA42-3E4B522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B998B"/>
                </a:solidFill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860A3-A11A-4E92-918E-A45F0AEC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t>Télécharger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CC5EC-4142-40FC-B2AA-0BFCC47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3415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t>Les données publiques de prix et de consommation.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C0F0-4D1E-4AE7-BE6C-B5D3A99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0450"/>
            <a:ext cx="4476750" cy="4953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0A165-2E01-499C-BAE5-C61EDF1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2A541"/>
                </a:solidFill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5B794-48FD-4B79-B2B2-C8CC96D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055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t>Assembler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00207-AE02-4558-B08C-F6FFC99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53415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t>Un panier d'inflation par groupe de ménages.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F0B2F-B047-4E46-9396-A0FB1D1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00450"/>
            <a:ext cx="4476750" cy="49530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73AB3-A4A5-4125-A1BA-3BF3537F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02920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3B5BA5"/>
                </a:solidFill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75136-0190-4943-8ED3-6ACF74C4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90550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t>Visualiser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BF16A-5564-4074-8C1C-C7C30459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3415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16B"/>
                </a:solidFill>
              </a:defRPr>
            </a:pPr>
            <a:r>
              <a:t>Des graphiques lisibles et prêts à mettre à jour.</a:t>
            </a:r>
          </a:p>
        </p:txBody>
      </p:sp>
    </p:spTree>
    <p:extLst>
      <p:ext uri="{BB962C8B-B14F-4D97-AF65-F5344CB8AC3E}">
        <p14:creationId xmlns:p14="http://schemas.microsoft.com/office/powerpoint/2010/main" val="3237194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AEF29-D5A2-46F7-98C0-15FA3767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01EFF-A5F8-46F4-892E-EBE53C9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76300"/>
            <a:ext cx="1596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MISE À JOUR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7D656-EC7F-4B07-90A6-317A79E1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5730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De l'analyse ponctuelle à l'outil réutilisable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BF6F2-F9F0-46A3-8AC6-0EFD4510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Le coût de mise à jour baisse fortement quand la chaîne est automatisée.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C2BCC-BCEB-46EB-92C5-C28D28C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4495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202B"/>
                </a:solidFill>
              </a:defRPr>
            </a:pPr>
            <a:r>
              <a:t>Le vrai gain : refaire proprement, souvent.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3D100-465D-47B8-AFA3-772ADAA4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6305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2616B"/>
                </a:solidFill>
              </a:defRPr>
            </a:pPr>
            <a:r>
              <a:t>Le package transforme un exercice lourd en routine de suivi.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9F8C5-B613-4FC4-995F-EA7C4E4E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5D62735-8322-41B1-899D-81A7C68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05450"/>
            <a:ext cx="800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t>Reproductible : mêmes sources, mêmes choix, mêmes sorties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949E5-6D62-4DF6-B2BD-F4FBCD6A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81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B051760-DE36-4EC9-84A7-6DEEB54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000750"/>
            <a:ext cx="800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t>Actualisable : les prix mensuels peuvent être intégrés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DC732-97E2-43B0-9910-14DFBD9F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77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254127A-FC6D-4455-A22F-90119D53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477000"/>
            <a:ext cx="800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202B"/>
                </a:solidFill>
              </a:defRPr>
            </a:pPr>
            <a:r>
              <a:t>Peu coûteux : une relance de script remplace un travail manuel</a:t>
            </a:r>
          </a:p>
        </p:txBody>
      </p:sp>
    </p:spTree>
    <p:extLst>
      <p:ext uri="{BB962C8B-B14F-4D97-AF65-F5344CB8AC3E}">
        <p14:creationId xmlns:p14="http://schemas.microsoft.com/office/powerpoint/2010/main" val="1966985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6BB4D-F5D8-49F8-B887-C7909EAC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4DE67-4D12-4FCB-94F9-D342855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FRANCE / REVENU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E55D2-9A48-4A63-866B-5DD4731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Inflation par niveau de vie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992B5-0DE8-4B8B-B956-3B46C7D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Inflation du 1er quintile, du 5e quintile et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80B8-5A81-4300-8892-CA78684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1049000" cy="6896100"/>
          </a:xfrm>
          <a:prstGeom xmlns:a="http://schemas.openxmlformats.org/drawingml/2006/main" prst="roundRect">
            <a:avLst>
              <a:gd name="adj" fmla="val 1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5f5b24d6a499d"/>
          <a:stretch xmlns:a="http://schemas.openxmlformats.org/drawingml/2006/main"/>
        </p:blipFill>
        <p:spPr>
          <a:xfrm xmlns:a="http://schemas.openxmlformats.org/drawingml/2006/main">
            <a:off x="838200" y="2855119"/>
            <a:ext cx="11049000" cy="6215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AB17F-C519-4D83-8648-80FD7483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876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10780025-2B98-4FD4-8B7B-D95832C3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85775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 graphique montre directement le niveau d'inflation par groupe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31015-04A4-4359-8597-47C52E4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676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>
            <a:solidFill>
              <a:srgbClr val="1B998B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79EB5F8D-1CF6-4EE5-ADA8-6D95FDA7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69595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Les écarts s'ouvrent surtout quand les prix accélèrent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30AE7-1233-4CC6-95B3-8AF07DB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62940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t>Lecture : chaque ligne montre l'inflation subie par un groupe de ménages.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244E3-A84C-425B-B46D-A70349D0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0594039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9F7EF-E905-48F3-BA8C-E772DE2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7B07D-80BC-4EE4-85A0-7DBAD6D1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LETTONIE / REVENU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A44AB-FF7E-4A97-8CFF-E84C27C3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Inflation par niveau de vie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D01F8-672B-426D-BE0B-01F8FEC4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991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Inflation du 1er quintile, du 5e quintile et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F89E2-44C5-42E5-8C24-A3D472E3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1049000" cy="6896100"/>
          </a:xfrm>
          <a:prstGeom xmlns:a="http://schemas.openxmlformats.org/drawingml/2006/main" prst="roundRect">
            <a:avLst>
              <a:gd name="adj" fmla="val 1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f127fc5f74438"/>
          <a:stretch xmlns:a="http://schemas.openxmlformats.org/drawingml/2006/main"/>
        </p:blipFill>
        <p:spPr>
          <a:xfrm xmlns:a="http://schemas.openxmlformats.org/drawingml/2006/main">
            <a:off x="838200" y="2855119"/>
            <a:ext cx="11049000" cy="6215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EB7C-15DD-42B7-88B5-0456CE0D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457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solidFill>
              <a:srgbClr val="7C3AED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6E240762-54F9-47DD-9037-DCFDE525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4577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La même visualisation peut être reproduite pour un autre pays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51B37-479B-4A10-A9E9-A819421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25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solidFill>
              <a:srgbClr val="7C3AED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F88F156-137B-46D2-AF4D-0083E97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27685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 choc inflationniste est plus marqué dans les pays baltes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84485-B148-4DD6-B153-448293C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9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solidFill>
              <a:srgbClr val="7C3AED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69D217BF-D876-40F4-A02B-6103526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0960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La comparaison reste lisible avec la même grammaire graphique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ECDE8-5AA2-416D-B2E1-7607D47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04850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t>Lecture : chaque ligne montre l'inflation subie par un groupe de ménages.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C4B55-1165-4986-AFEA-D803CB2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4219157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08F56-4B11-4898-A4E9-BFEAE350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86EFD-2AF2-45AD-B91A-DFBFC11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FRANCE / ÂGE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C4375-EDD6-4FFD-817C-D0D6FCA3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Inflation par âge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D75BE-CBF9-47F5-8FE6-3CBBEBBF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5981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Inflation des moins de 30 ans, des 60 ans ou plus et moyenne.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F9755-FA33-4A69-B9F7-0AAD4B9F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1049000" cy="6896100"/>
          </a:xfrm>
          <a:prstGeom xmlns:a="http://schemas.openxmlformats.org/drawingml/2006/main" prst="roundRect">
            <a:avLst>
              <a:gd name="adj" fmla="val 1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5338ee2634cce"/>
          <a:stretch xmlns:a="http://schemas.openxmlformats.org/drawingml/2006/main"/>
        </p:blipFill>
        <p:spPr>
          <a:xfrm xmlns:a="http://schemas.openxmlformats.org/drawingml/2006/main">
            <a:off x="838200" y="2855119"/>
            <a:ext cx="11049000" cy="6215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CDC0F-6CEC-4641-BC51-87A0B953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457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>
            <a:solidFill>
              <a:srgbClr val="D95D39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0140434C-BDBD-4E08-B587-A52D958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4577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 niveau d'inflation se lit sans passer par un écart abstrait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E2DDF-CF6E-4699-839C-C058569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25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>
            <a:solidFill>
              <a:srgbClr val="D95D39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C8F14BCB-5C8F-4CC3-BBD2-A201D08F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27685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Les divergences entre lignes signalent un effet de panier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4E937-1645-47B6-96C3-67D9CD5F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9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>
            <a:solidFill>
              <a:srgbClr val="D95D39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82AC2E72-517C-4447-8E34-0C8B39E7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0960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 message reste accessible pour un public non technique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2FFAB-FB43-45B9-9183-02D34B8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04850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t>Lecture : chaque ligne montre l'inflation subie par un groupe de ménages.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1379-1956-4484-A71A-F06E067E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5759730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347E6-6AED-4BB8-B414-41FAED5C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6CE23-3F13-4D67-B4FE-6C850137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FRANCE / RÉSIDENCE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19A9D-D59A-4B29-ADCC-E14FBCDC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Inflation par zone de résidence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3BB77-616E-4E54-A8A0-D51EB3B7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09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Inflation par zone de résidence, en niveau.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93BCF-5B7A-4DCF-BA99-C4FC2068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1049000" cy="6896100"/>
          </a:xfrm>
          <a:prstGeom xmlns:a="http://schemas.openxmlformats.org/drawingml/2006/main" prst="roundRect">
            <a:avLst>
              <a:gd name="adj" fmla="val 1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034a7407e4ccb"/>
          <a:stretch xmlns:a="http://schemas.openxmlformats.org/drawingml/2006/main"/>
        </p:blipFill>
        <p:spPr>
          <a:xfrm xmlns:a="http://schemas.openxmlformats.org/drawingml/2006/main">
            <a:off x="838200" y="2855119"/>
            <a:ext cx="11049000" cy="6215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31BBD-5978-452D-9C2B-683A8CC2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457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BEFB292A-F6DB-4398-BA3D-2F620495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4577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Les trajectoires rendent visible le rôle du lieu de résidence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3B562-1826-4A5C-BEC9-3EA7F13C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25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1007D934-6E21-42DB-A926-FB767DB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27685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La comparaison reste lisible même en présentation grand 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EC97A-B8FB-4FA4-954E-CD47AD08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9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0F13C6E-CA03-4B00-8752-B9192306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0960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Elle prépare naturellement la décomposition par postes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CEB3D-4334-413B-ADB3-CF4FCE67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048500"/>
            <a:ext cx="466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t>Lecture : chaque ligne montre l'inflation subie par un groupe de ménages.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EF752-90AE-4E0F-A071-1CCCD80D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382006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6E473-1BE6-4B22-8A34-8674293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FC4A6-975B-4A76-9020-6F68C155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998B"/>
                </a:solidFill>
              </a:defRPr>
            </a:pPr>
            <a:r>
              <a:t>FRANCE /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6DA45-8EDB-4045-9557-93C8A82F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02B"/>
                </a:solidFill>
              </a:defRPr>
            </a:pPr>
            <a:r>
              <a:t>Rural-villes : les postes qui fabriquent l'écart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FFAA7-0529-4184-AB23-B27FED4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600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</a:defRPr>
            </a:pPr>
            <a:r>
              <a:t>Contribution des postes de consommation à l'écart d'inflation.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3A997-6AF4-4BBD-BD35-DDB0A59F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1049000" cy="7200900"/>
          </a:xfrm>
          <a:prstGeom xmlns:a="http://schemas.openxmlformats.org/drawingml/2006/main" prst="roundRect">
            <a:avLst>
              <a:gd name="adj" fmla="val 10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DE5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9ea8d1845487a"/>
          <a:stretch xmlns:a="http://schemas.openxmlformats.org/drawingml/2006/main"/>
        </p:blipFill>
        <p:spPr>
          <a:xfrm xmlns:a="http://schemas.openxmlformats.org/drawingml/2006/main">
            <a:off x="838200" y="2702719"/>
            <a:ext cx="11049000" cy="6215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7BE9D-4955-410C-B81D-669ED1EF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305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74058EF4-8A37-45B2-9C6F-EF89F50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3053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Les barres décomposent l'écart rural-villes poste par poste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35AA6-1DAC-420D-A383-E15BE27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105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9304EEF-2B2C-4873-9198-78C63479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12445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Transport et énergie rendent le territoire immédiatement lisible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4F05A-4742-4722-BF03-721B7B60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943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5BA5"/>
          </a:solidFill>
          <a:ln xmlns:a="http://schemas.openxmlformats.org/drawingml/2006/main">
            <a:solidFill>
              <a:srgbClr val="3B5BA5"/>
            </a:solidFill>
            <a:prstDash val="solid"/>
          </a:ln>
        </p:spPr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5D6BE7EF-A29C-4D6D-8041-63CE40CA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943600"/>
            <a:ext cx="4838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02B"/>
                </a:solidFill>
              </a:defRPr>
            </a:pPr>
            <a:r>
              <a:t>La ligne noire résume l'écart total entre les deux groupes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BC6BC-738C-411E-AC8D-B876731D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896100"/>
            <a:ext cx="4610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B7280"/>
                </a:solidFill>
              </a:defRPr>
            </a:pPr>
            <a:r>
              <a:t>Lecture : un écart positif signifie que le rural subit une inflation plus élevée que les villes.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02D3C-D0D1-41C6-ADCA-E694C5C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774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5828A"/>
                </a:solidFill>
              </a:defRPr>
            </a:pPr>
            <a: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207280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2026-05-26T08:35:15.1090000Z</dcterms:created>
  <dcterms:modified xsi:type="dcterms:W3CDTF">2026-05-26T08:35:15.1090000Z</dcterms:modified>
</coreProperties>
</file>