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4"/>
    <p:sldId id="260" r:id="rId5"/>
    <p:sldId id="262" r:id="rId6"/>
    <p:sldId id="263" r:id="rId7"/>
    <p:sldId id="264" r:id="rId8"/>
    <p:sldId id="261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888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4ACEEA-2717-4AB7-BC84-617EF827F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6F08B1-90CB-475C-95E9-534F570DC2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BDA627-83F2-42A2-9831-39FAB342D2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8A200-FF05-4347-A969-062B97B37D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7239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3313D-2486-4E84-AEBF-C6B12D3A528F}"/>
              </a:ext>
            </a:extLst>
          </p:cNvPr>
          <p:cNvSpPr>
            <a:spLocks noGrp="1"/>
          </p:cNvSpPr>
          <p:nvPr/>
        </p:nvSpPr>
        <p:spPr>
          <a:xfrm>
            <a:off x="1028700" y="876300"/>
            <a:ext cx="10972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B998B"/>
                </a:solidFill>
              </a:defRPr>
            </a:pPr>
            <a:r>
              <a:rPr sz="1500" b="1">
                <a:solidFill>
                  <a:srgbClr val="1B998B"/>
                </a:solidFill>
              </a:rPr>
              <a:t>INFLATIONINEQUALITY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1A34-C8CE-4F23-A029-E948E0B46D3F}"/>
              </a:ext>
            </a:extLst>
          </p:cNvPr>
          <p:cNvSpPr>
            <a:spLocks noGrp="1"/>
          </p:cNvSpPr>
          <p:nvPr/>
        </p:nvSpPr>
        <p:spPr>
          <a:xfrm>
            <a:off x="1028700" y="1428750"/>
            <a:ext cx="922020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15202B"/>
                </a:solidFill>
              </a:defRPr>
            </a:pPr>
            <a:r>
              <a:rPr sz="5700" b="1" dirty="0">
                <a:solidFill>
                  <a:srgbClr val="15202B"/>
                </a:solidFill>
              </a:rPr>
              <a:t>Voir </a:t>
            </a:r>
            <a:r>
              <a:rPr sz="5700" b="1" dirty="0" err="1">
                <a:solidFill>
                  <a:srgbClr val="15202B"/>
                </a:solidFill>
              </a:rPr>
              <a:t>l'inflation</a:t>
            </a:r>
            <a:r>
              <a:rPr sz="5700" b="1" dirty="0">
                <a:solidFill>
                  <a:srgbClr val="15202B"/>
                </a:solidFill>
              </a:rPr>
              <a:t> </a:t>
            </a:r>
            <a:r>
              <a:rPr lang="fr-FR" sz="5700" b="1" dirty="0">
                <a:solidFill>
                  <a:srgbClr val="15202B"/>
                </a:solidFill>
              </a:rPr>
              <a:t>au-delà de la moyenne</a:t>
            </a:r>
            <a:endParaRPr sz="5700" b="1" dirty="0">
              <a:solidFill>
                <a:srgbClr val="15202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9750AD-02AD-455D-B29D-797D9434A350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8801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52616B"/>
                </a:solidFill>
              </a:defRPr>
            </a:pPr>
            <a:r>
              <a:rPr sz="2325" b="0" dirty="0">
                <a:solidFill>
                  <a:srgbClr val="52616B"/>
                </a:solidFill>
              </a:rPr>
              <a:t>Un package R pour </a:t>
            </a:r>
            <a:r>
              <a:rPr sz="2325" b="0" dirty="0" err="1">
                <a:solidFill>
                  <a:srgbClr val="52616B"/>
                </a:solidFill>
              </a:rPr>
              <a:t>produire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rapidement</a:t>
            </a:r>
            <a:r>
              <a:rPr sz="2325" b="0" dirty="0">
                <a:solidFill>
                  <a:srgbClr val="52616B"/>
                </a:solidFill>
              </a:rPr>
              <a:t> des </a:t>
            </a:r>
            <a:r>
              <a:rPr lang="fr-FR" sz="2325" b="0" dirty="0" err="1">
                <a:solidFill>
                  <a:srgbClr val="52616B"/>
                </a:solidFill>
              </a:rPr>
              <a:t>graphqiues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reproductibles</a:t>
            </a:r>
            <a:r>
              <a:rPr sz="2325" b="0" dirty="0">
                <a:solidFill>
                  <a:srgbClr val="52616B"/>
                </a:solidFill>
              </a:rPr>
              <a:t> et mis à jour</a:t>
            </a:r>
            <a:r>
              <a:rPr lang="fr-FR" sz="2325" b="0" dirty="0">
                <a:solidFill>
                  <a:srgbClr val="52616B"/>
                </a:solidFill>
              </a:rPr>
              <a:t> facilement</a:t>
            </a:r>
            <a:r>
              <a:rPr sz="2325" b="0" dirty="0">
                <a:solidFill>
                  <a:srgbClr val="52616B"/>
                </a:solidFill>
              </a:rPr>
              <a:t> 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B09E799-E69D-473D-A071-7381270ED1E3}"/>
              </a:ext>
            </a:extLst>
          </p:cNvPr>
          <p:cNvSpPr>
            <a:spLocks noGrp="1"/>
          </p:cNvSpPr>
          <p:nvPr/>
        </p:nvSpPr>
        <p:spPr>
          <a:xfrm>
            <a:off x="1028700" y="45339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081F5253-56EB-4E1A-80A0-0DF00ECC1D2D}"/>
              </a:ext>
            </a:extLst>
          </p:cNvPr>
          <p:cNvSpPr>
            <a:spLocks noGrp="1"/>
          </p:cNvSpPr>
          <p:nvPr/>
        </p:nvSpPr>
        <p:spPr>
          <a:xfrm>
            <a:off x="1390650" y="4514850"/>
            <a:ext cx="13460976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lang="fr-FR" sz="2025" b="0" dirty="0">
                <a:solidFill>
                  <a:srgbClr val="15202B"/>
                </a:solidFill>
              </a:rPr>
              <a:t>A partir de </a:t>
            </a:r>
            <a:r>
              <a:rPr lang="fr-FR" sz="2025" dirty="0">
                <a:solidFill>
                  <a:srgbClr val="15202B"/>
                </a:solidFill>
              </a:rPr>
              <a:t>d</a:t>
            </a:r>
            <a:r>
              <a:rPr sz="2025" b="0" dirty="0" err="1">
                <a:solidFill>
                  <a:srgbClr val="15202B"/>
                </a:solidFill>
              </a:rPr>
              <a:t>onnées</a:t>
            </a:r>
            <a:r>
              <a:rPr sz="2025" b="0" dirty="0">
                <a:solidFill>
                  <a:srgbClr val="15202B"/>
                </a:solidFill>
              </a:rPr>
              <a:t> </a:t>
            </a:r>
            <a:r>
              <a:rPr sz="2025" b="0" dirty="0" err="1">
                <a:solidFill>
                  <a:srgbClr val="15202B"/>
                </a:solidFill>
              </a:rPr>
              <a:t>publiques</a:t>
            </a:r>
            <a:r>
              <a:rPr sz="2025" b="0" dirty="0">
                <a:solidFill>
                  <a:srgbClr val="15202B"/>
                </a:solidFill>
              </a:rPr>
              <a:t> : I</a:t>
            </a:r>
            <a:r>
              <a:rPr lang="fr-FR" sz="2025" b="0" dirty="0" err="1">
                <a:solidFill>
                  <a:srgbClr val="15202B"/>
                </a:solidFill>
              </a:rPr>
              <a:t>ndice</a:t>
            </a:r>
            <a:r>
              <a:rPr lang="fr-FR" sz="2025" b="0" dirty="0">
                <a:solidFill>
                  <a:srgbClr val="15202B"/>
                </a:solidFill>
              </a:rPr>
              <a:t> des prix à la consommation</a:t>
            </a:r>
            <a:r>
              <a:rPr lang="fr-FR" sz="2025" dirty="0">
                <a:solidFill>
                  <a:srgbClr val="15202B"/>
                </a:solidFill>
              </a:rPr>
              <a:t> et enquête sur les budgets des ménages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D18F17F-DDD7-420D-B9E5-6D0F37A36827}"/>
              </a:ext>
            </a:extLst>
          </p:cNvPr>
          <p:cNvSpPr>
            <a:spLocks noGrp="1"/>
          </p:cNvSpPr>
          <p:nvPr/>
        </p:nvSpPr>
        <p:spPr>
          <a:xfrm>
            <a:off x="1028700" y="49530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76D2865B-EA76-4A4E-8E66-9A4E4372FF78}"/>
              </a:ext>
            </a:extLst>
          </p:cNvPr>
          <p:cNvSpPr>
            <a:spLocks noGrp="1"/>
          </p:cNvSpPr>
          <p:nvPr/>
        </p:nvSpPr>
        <p:spPr>
          <a:xfrm>
            <a:off x="1390650" y="497205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Code disponible sur GitHub </a:t>
            </a:r>
            <a:r>
              <a:rPr sz="2025" b="0" dirty="0" err="1">
                <a:solidFill>
                  <a:srgbClr val="15202B"/>
                </a:solidFill>
              </a:rPr>
              <a:t>vérifiable</a:t>
            </a:r>
            <a:r>
              <a:rPr sz="2025" b="0" dirty="0">
                <a:solidFill>
                  <a:srgbClr val="15202B"/>
                </a:solidFill>
              </a:rPr>
              <a:t> et </a:t>
            </a:r>
            <a:r>
              <a:rPr sz="2025" b="0" dirty="0" err="1">
                <a:solidFill>
                  <a:srgbClr val="15202B"/>
                </a:solidFill>
              </a:rPr>
              <a:t>réutilisable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9B54513-41B6-4A44-AED8-25B7A3BA3B06}"/>
              </a:ext>
            </a:extLst>
          </p:cNvPr>
          <p:cNvSpPr>
            <a:spLocks noGrp="1"/>
          </p:cNvSpPr>
          <p:nvPr/>
        </p:nvSpPr>
        <p:spPr>
          <a:xfrm>
            <a:off x="1028700" y="54102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63048F9F-2967-44E5-8372-7CFC8489DE73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F</a:t>
            </a:r>
            <a:r>
              <a:rPr lang="fr-FR" sz="2025" b="0" dirty="0" err="1">
                <a:solidFill>
                  <a:srgbClr val="15202B"/>
                </a:solidFill>
              </a:rPr>
              <a:t>ifférentes</a:t>
            </a:r>
            <a:r>
              <a:rPr lang="fr-FR" sz="2025" b="0" dirty="0">
                <a:solidFill>
                  <a:srgbClr val="15202B"/>
                </a:solidFill>
              </a:rPr>
              <a:t> audiences </a:t>
            </a:r>
            <a:r>
              <a:rPr lang="fr-FR" sz="2025" dirty="0">
                <a:solidFill>
                  <a:srgbClr val="15202B"/>
                </a:solidFill>
              </a:rPr>
              <a:t> possible ; grands publique</a:t>
            </a:r>
            <a:r>
              <a:rPr sz="2025" b="0" dirty="0">
                <a:solidFill>
                  <a:srgbClr val="15202B"/>
                </a:solidFill>
              </a:rPr>
              <a:t>, policy </a:t>
            </a:r>
            <a:r>
              <a:rPr sz="2025" b="0" dirty="0" err="1">
                <a:solidFill>
                  <a:srgbClr val="15202B"/>
                </a:solidFill>
              </a:rPr>
              <a:t>ou</a:t>
            </a:r>
            <a:r>
              <a:rPr sz="2025" b="0" dirty="0">
                <a:solidFill>
                  <a:srgbClr val="15202B"/>
                </a:solidFill>
              </a:rPr>
              <a:t> </a:t>
            </a:r>
            <a:r>
              <a:rPr lang="fr-FR" sz="2025" dirty="0">
                <a:solidFill>
                  <a:srgbClr val="15202B"/>
                </a:solidFill>
              </a:rPr>
              <a:t>même </a:t>
            </a:r>
            <a:r>
              <a:rPr sz="2025" b="0" dirty="0">
                <a:solidFill>
                  <a:srgbClr val="15202B"/>
                </a:solidFill>
              </a:rPr>
              <a:t>recherche</a:t>
            </a:r>
          </a:p>
        </p:txBody>
      </p:sp>
    </p:spTree>
    <p:extLst>
      <p:ext uri="{BB962C8B-B14F-4D97-AF65-F5344CB8AC3E}">
        <p14:creationId xmlns:p14="http://schemas.microsoft.com/office/powerpoint/2010/main" val="42184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6DAEF9-41DF-47B9-A6F9-C488D287B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6E554A-7903-4117-A943-27B7507085B6}"/>
              </a:ext>
            </a:extLst>
          </p:cNvPr>
          <p:cNvSpPr>
            <a:spLocks noGrp="1"/>
          </p:cNvSpPr>
          <p:nvPr/>
        </p:nvSpPr>
        <p:spPr>
          <a:xfrm>
            <a:off x="1047750" y="723900"/>
            <a:ext cx="1619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L'OUTIL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8D618-C05D-4802-82CF-0EF66CE79CB6}"/>
              </a:ext>
            </a:extLst>
          </p:cNvPr>
          <p:cNvSpPr>
            <a:spLocks noGrp="1"/>
          </p:cNvSpPr>
          <p:nvPr/>
        </p:nvSpPr>
        <p:spPr>
          <a:xfrm>
            <a:off x="900000" y="1104900"/>
            <a:ext cx="16800000" cy="7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500" b="1" dirty="0">
                <a:solidFill>
                  <a:srgbClr val="15202B"/>
                </a:solidFill>
              </a:rPr>
              <a:t>Un outil pour passer des données aux graphiques</a:t>
            </a:r>
            <a:endParaRPr sz="350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E9EFE-0338-4900-949E-9054C98B5476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10000000" cy="45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2600" b="0" dirty="0" err="1">
                <a:solidFill>
                  <a:srgbClr val="52616B"/>
                </a:solidFill>
              </a:rPr>
              <a:t>Mise à jour simple et reproductible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ED0EFE2-2CC9-43D1-9886-E2764681F2F1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881CD-FC9F-4F5F-A6DB-7BA1D6ED9724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B998B"/>
                </a:solidFill>
              </a:defRPr>
            </a:pPr>
            <a:r>
              <a:rPr sz="4350" b="1">
                <a:solidFill>
                  <a:srgbClr val="1B998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FADB2-9F59-4A82-93E0-31CA0FEA7151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Télécharger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E5C36-BB4E-4327-8940-FE6FD2314EF3}"/>
              </a:ext>
            </a:extLst>
          </p:cNvPr>
          <p:cNvSpPr>
            <a:spLocks noGrp="1"/>
          </p:cNvSpPr>
          <p:nvPr/>
        </p:nvSpPr>
        <p:spPr>
          <a:xfrm>
            <a:off x="1428750" y="6534150"/>
            <a:ext cx="37147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1950" b="0" dirty="0">
                <a:solidFill>
                  <a:srgbClr val="52616B"/>
                </a:solidFill>
              </a:rPr>
              <a:t>Données Eurostat de prix et consommation.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7134393-6FC5-4119-81E6-8FDF17C9FE2D}"/>
              </a:ext>
            </a:extLst>
          </p:cNvPr>
          <p:cNvSpPr>
            <a:spLocks noGrp="1"/>
          </p:cNvSpPr>
          <p:nvPr/>
        </p:nvSpPr>
        <p:spPr>
          <a:xfrm>
            <a:off x="58483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0E37B-254A-49A7-A9E7-DCE38ECEA4CA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2A541"/>
                </a:solidFill>
              </a:defRPr>
            </a:pPr>
            <a:r>
              <a:rPr sz="4350" b="1">
                <a:solidFill>
                  <a:srgbClr val="F2A54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6E232-0E2D-4F46-8D46-CD1FB419481B}"/>
              </a:ext>
            </a:extLst>
          </p:cNvPr>
          <p:cNvSpPr>
            <a:spLocks noGrp="1"/>
          </p:cNvSpPr>
          <p:nvPr/>
        </p:nvSpPr>
        <p:spPr>
          <a:xfrm>
            <a:off x="62293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Assembler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2E3AFF-C80B-4D62-B43E-C12452046AB6}"/>
              </a:ext>
            </a:extLst>
          </p:cNvPr>
          <p:cNvSpPr>
            <a:spLocks noGrp="1"/>
          </p:cNvSpPr>
          <p:nvPr/>
        </p:nvSpPr>
        <p:spPr>
          <a:xfrm>
            <a:off x="6229350" y="6534150"/>
            <a:ext cx="3714750" cy="8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3000" b="0">
                <a:solidFill>
                  <a:srgbClr val="52616B"/>
                </a:solidFill>
              </a:rPr>
              <a:t>Un panier d'inflation par groupe de ménages.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6B459EA-C4FA-4BB6-884D-7B5D0FAB09F0}"/>
              </a:ext>
            </a:extLst>
          </p:cNvPr>
          <p:cNvSpPr>
            <a:spLocks noGrp="1"/>
          </p:cNvSpPr>
          <p:nvPr/>
        </p:nvSpPr>
        <p:spPr>
          <a:xfrm>
            <a:off x="106489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83EE1-C98D-4F00-A499-3F5DB848FB50}"/>
              </a:ext>
            </a:extLst>
          </p:cNvPr>
          <p:cNvSpPr>
            <a:spLocks noGrp="1"/>
          </p:cNvSpPr>
          <p:nvPr/>
        </p:nvSpPr>
        <p:spPr>
          <a:xfrm>
            <a:off x="110299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3B5BA5"/>
                </a:solidFill>
              </a:defRPr>
            </a:pPr>
            <a:r>
              <a:rPr sz="4350" b="1">
                <a:solidFill>
                  <a:srgbClr val="3B5BA5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577DE-F365-4FD0-BE4F-CF5C3A52AF5A}"/>
              </a:ext>
            </a:extLst>
          </p:cNvPr>
          <p:cNvSpPr>
            <a:spLocks noGrp="1"/>
          </p:cNvSpPr>
          <p:nvPr/>
        </p:nvSpPr>
        <p:spPr>
          <a:xfrm>
            <a:off x="110299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Visualiser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501EDF-CE10-428E-A939-415FB24F6770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3714750" cy="8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3000" b="0" dirty="0">
                <a:solidFill>
                  <a:srgbClr val="52616B"/>
                </a:solidFill>
              </a:rPr>
              <a:t>Graphiques lisibles, mise à jour facile.</a:t>
            </a:r>
          </a:p>
        </p:txBody>
      </p:sp>
    </p:spTree>
    <p:extLst>
      <p:ext uri="{BB962C8B-B14F-4D97-AF65-F5344CB8AC3E}">
        <p14:creationId xmlns:p14="http://schemas.microsoft.com/office/powerpoint/2010/main" val="142336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C8155B-BA8E-4738-8DC9-E17754A656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7CAEC-E556-4F7E-96AD-E7E451A3F6B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2E78D-2010-4FBA-A266-F8F009B20906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 dirty="0">
                <a:solidFill>
                  <a:srgbClr val="15202B"/>
                </a:solidFill>
              </a:rPr>
              <a:t>Inflation par tranches de revenu</a:t>
            </a:r>
            <a:endParaRPr sz="340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A0FEC-1DAA-4D9B-8E4F-3EB7ACE8B058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9F29A37-D8E1-475C-9B99-2D8E6E38448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87529CD6-0A51-44EB-BC6A-4815DB645629}"/>
              </a:ext>
            </a:extLst>
          </p:cNvPr>
          <p:cNvSpPr>
            <a:spLocks noGrp="1"/>
          </p:cNvSpPr>
          <p:nvPr/>
        </p:nvSpPr>
        <p:spPr>
          <a:xfrm>
            <a:off x="12268200" y="48768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C2ED5E0-219D-474D-9C97-5695D62C2E4E}"/>
              </a:ext>
            </a:extLst>
          </p:cNvPr>
          <p:cNvSpPr>
            <a:spLocks noGrp="1"/>
          </p:cNvSpPr>
          <p:nvPr/>
        </p:nvSpPr>
        <p:spPr>
          <a:xfrm>
            <a:off x="12100000" y="48577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niveau se lit directement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1BAE591-D6F4-4D8A-ABBC-085AAA96AD85}"/>
              </a:ext>
            </a:extLst>
          </p:cNvPr>
          <p:cNvSpPr>
            <a:spLocks noGrp="1"/>
          </p:cNvSpPr>
          <p:nvPr/>
        </p:nvSpPr>
        <p:spPr>
          <a:xfrm>
            <a:off x="12268200" y="56769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8CDB864-B3D3-47B6-A75A-9D894F73AD37}"/>
              </a:ext>
            </a:extLst>
          </p:cNvPr>
          <p:cNvSpPr>
            <a:spLocks noGrp="1"/>
          </p:cNvSpPr>
          <p:nvPr/>
        </p:nvSpPr>
        <p:spPr>
          <a:xfrm>
            <a:off x="12100000" y="56959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Écarts visibles quand les prix accélèrent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FB02E-0AC6-49BF-A1B6-D9FF20D7F427}"/>
              </a:ext>
            </a:extLst>
          </p:cNvPr>
          <p:cNvSpPr>
            <a:spLocks noGrp="1"/>
          </p:cNvSpPr>
          <p:nvPr/>
        </p:nvSpPr>
        <p:spPr>
          <a:xfrm>
            <a:off x="12249150" y="66294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3DAF4-BDC7-4096-8CD2-FFE5D509E009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96668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6F083C-9718-4BB4-9F9D-0C059F72E7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6FAF5-7B94-408C-9A7C-FDDF22E04867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ÂGE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51499-6C2A-4021-AE55-414E43AC7B22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âge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F94A7B-1A81-4C96-B238-8FC8F69AD621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des moins de 30 ans, des 60 ans ou plus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55B8140-6B4E-4147-B3F1-6417C3260EA5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B8BBE35-9D25-4375-A880-A28CD77F91BD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E0C32FC4-24F7-4CEF-901C-078FBF9BDB86}"/>
              </a:ext>
            </a:extLst>
          </p:cNvPr>
          <p:cNvSpPr>
            <a:spLocks noGrp="1"/>
          </p:cNvSpPr>
          <p:nvPr/>
        </p:nvSpPr>
        <p:spPr>
          <a:xfrm>
            <a:off x="12100000" y="44577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niveau se lit directement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BF27832-C217-4DD1-AD9A-F1719F07AF59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BE5E0943-4E8C-4E8E-871A-D6A6AA0C43C6}"/>
              </a:ext>
            </a:extLst>
          </p:cNvPr>
          <p:cNvSpPr>
            <a:spLocks noGrp="1"/>
          </p:cNvSpPr>
          <p:nvPr/>
        </p:nvSpPr>
        <p:spPr>
          <a:xfrm>
            <a:off x="12100000" y="52768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lignes montrent l'effet panier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BEDD5A6-C063-4C2C-88E4-63DA1970D05A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1AD8DD30-055A-4EA2-A0BE-3877BF25334D}"/>
              </a:ext>
            </a:extLst>
          </p:cNvPr>
          <p:cNvSpPr>
            <a:spLocks noGrp="1"/>
          </p:cNvSpPr>
          <p:nvPr/>
        </p:nvSpPr>
        <p:spPr>
          <a:xfrm>
            <a:off x="12100000" y="60960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Message accessible sans jargon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AD2AD-215E-4518-8CED-3B3094A1A72C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0F5D1-C182-41D9-82B8-B46A78A4BD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26560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A89FCE-7940-4581-A369-97F15B9DB5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E7065C-3EF1-44BD-B943-91DE464E560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RÉSIDENCE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A56AE-F53B-4F57-B4F8-C58E4B549643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zone de résidence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3D216-3828-4DEF-A30F-29E6BBCB93C1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3400" b="0">
                <a:solidFill>
                  <a:srgbClr val="52616B"/>
                </a:solidFill>
              </a:rPr>
              <a:t>Inflation par zone de résidence, en niveau.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8DC48E0-78A6-4797-8858-67E189EB3EA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5074CC4-7493-4BB4-BDA9-2EECA2A2BAB1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7A853BEB-9D47-42B9-B536-709F0A022E43}"/>
              </a:ext>
            </a:extLst>
          </p:cNvPr>
          <p:cNvSpPr>
            <a:spLocks noGrp="1"/>
          </p:cNvSpPr>
          <p:nvPr/>
        </p:nvSpPr>
        <p:spPr>
          <a:xfrm>
            <a:off x="12100000" y="44577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 lieu de résidence compte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D2A6131-7A56-458A-8673-4957DF772FB3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C58B94D8-7406-4182-9679-9214A70CB618}"/>
              </a:ext>
            </a:extLst>
          </p:cNvPr>
          <p:cNvSpPr>
            <a:spLocks noGrp="1"/>
          </p:cNvSpPr>
          <p:nvPr/>
        </p:nvSpPr>
        <p:spPr>
          <a:xfrm>
            <a:off x="12100000" y="52768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Comparaison lisible grand public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0B3638A-2E1F-49BC-9872-BABC50DA0C91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6F714922-7D5C-42B0-BCC1-517618709BDC}"/>
              </a:ext>
            </a:extLst>
          </p:cNvPr>
          <p:cNvSpPr>
            <a:spLocks noGrp="1"/>
          </p:cNvSpPr>
          <p:nvPr/>
        </p:nvSpPr>
        <p:spPr>
          <a:xfrm>
            <a:off x="12100000" y="60960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Transition vers les contributions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1FADE3-88CA-4E84-A97F-C19238F23BC8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86E86E-9D06-4F04-A01B-EEDBC643376B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18231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DE0795C-39DF-440E-9B39-9FCDB7634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D4259-8BE1-49F9-8D38-1A7B7C0DD27C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CONTRIBUTIONS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60A-7A89-4346-A87B-AE2C32A224D9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7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2850" b="1">
                <a:solidFill>
                  <a:srgbClr val="15202B"/>
                </a:solidFill>
              </a:rPr>
              <a:t>Écart d'inflation zone rurale-zone urbaine : les postes qui expliquent l'écart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B57EB-DB47-4AD3-9E16-C4FECF2CCE78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Contribution des postes de consommation à l'écart d'inflation.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2868123-D645-4782-A2DE-0F366D455E57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11049000" cy="7200900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7027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FA5D54D-2D80-4CA2-9F15-9D2246ED04FE}"/>
              </a:ext>
            </a:extLst>
          </p:cNvPr>
          <p:cNvSpPr>
            <a:spLocks noGrp="1"/>
          </p:cNvSpPr>
          <p:nvPr/>
        </p:nvSpPr>
        <p:spPr>
          <a:xfrm>
            <a:off x="12268200" y="43053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085C0B5-B568-4C8B-90B2-CB72DD56E1F9}"/>
              </a:ext>
            </a:extLst>
          </p:cNvPr>
          <p:cNvSpPr>
            <a:spLocks noGrp="1"/>
          </p:cNvSpPr>
          <p:nvPr/>
        </p:nvSpPr>
        <p:spPr>
          <a:xfrm>
            <a:off x="12100000" y="43053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Les barres décomposent l'écart rural-villes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591FEB7-12CE-4A1D-874B-1215A8D79A6B}"/>
              </a:ext>
            </a:extLst>
          </p:cNvPr>
          <p:cNvSpPr>
            <a:spLocks noGrp="1"/>
          </p:cNvSpPr>
          <p:nvPr/>
        </p:nvSpPr>
        <p:spPr>
          <a:xfrm>
            <a:off x="12268200" y="51054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E6464B23-A830-4C9C-8CD5-E49DD16F1B1C}"/>
              </a:ext>
            </a:extLst>
          </p:cNvPr>
          <p:cNvSpPr>
            <a:spLocks noGrp="1"/>
          </p:cNvSpPr>
          <p:nvPr/>
        </p:nvSpPr>
        <p:spPr>
          <a:xfrm>
            <a:off x="12100000" y="51244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Transport et énergie structurent l'écart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A7E5315-5ED0-41FA-B420-C515CC9FD3E1}"/>
              </a:ext>
            </a:extLst>
          </p:cNvPr>
          <p:cNvSpPr>
            <a:spLocks noGrp="1"/>
          </p:cNvSpPr>
          <p:nvPr/>
        </p:nvSpPr>
        <p:spPr>
          <a:xfrm>
            <a:off x="12268200" y="59436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DE9D43FA-3A9B-458E-B81D-381EAB4898BE}"/>
              </a:ext>
            </a:extLst>
          </p:cNvPr>
          <p:cNvSpPr>
            <a:spLocks noGrp="1"/>
          </p:cNvSpPr>
          <p:nvPr/>
        </p:nvSpPr>
        <p:spPr>
          <a:xfrm>
            <a:off x="12100000" y="59436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La ligne noire donne l'écart total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1623F-C6AC-4673-A793-C11EFBE306A6}"/>
              </a:ext>
            </a:extLst>
          </p:cNvPr>
          <p:cNvSpPr>
            <a:spLocks noGrp="1"/>
          </p:cNvSpPr>
          <p:nvPr/>
        </p:nvSpPr>
        <p:spPr>
          <a:xfrm>
            <a:off x="12249150" y="6896100"/>
            <a:ext cx="46101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un écart positif signifie que le rural subit une inflation plus élevée que les villes.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E57603-FC1D-4B11-A10C-0690A1E90A67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22193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98A83EF-5648-42A3-B4C9-85A2586522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950A4E-4A30-4919-A2D0-A8D339717CC3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LETTONIE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C061A-4E9C-4166-A695-4E26EA99F650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niveau de vie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EA58B-9130-4162-8F6B-D5C922BB3BED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4510A8B-F571-434F-844A-A0C352A929F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77CB444-C8C2-492F-81D5-BDBAD33EFF0D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D8C632C9-8DD7-4763-8854-4CC8474F6075}"/>
              </a:ext>
            </a:extLst>
          </p:cNvPr>
          <p:cNvSpPr>
            <a:spLocks noGrp="1"/>
          </p:cNvSpPr>
          <p:nvPr/>
        </p:nvSpPr>
        <p:spPr>
          <a:xfrm>
            <a:off x="12100000" y="44577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Même graphique, autre pays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00C916B-6682-4796-85BC-0FF2C63112E7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5B69806-70F6-43F8-ABB9-2232E0944F07}"/>
              </a:ext>
            </a:extLst>
          </p:cNvPr>
          <p:cNvSpPr>
            <a:spLocks noGrp="1"/>
          </p:cNvSpPr>
          <p:nvPr/>
        </p:nvSpPr>
        <p:spPr>
          <a:xfrm>
            <a:off x="12100000" y="52768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Choc plus marqué dans les pays baltes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B468CF1-A2C2-4BF9-B9C0-EA9217BF1D4E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05E2406D-4EEE-4738-BBBF-5752C7AA2800}"/>
              </a:ext>
            </a:extLst>
          </p:cNvPr>
          <p:cNvSpPr>
            <a:spLocks noGrp="1"/>
          </p:cNvSpPr>
          <p:nvPr/>
        </p:nvSpPr>
        <p:spPr>
          <a:xfrm>
            <a:off x="12100000" y="60960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Comparaison lisible dans le temps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AD6FF-5E00-4E7D-BF71-AA89062BB044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DD5EB1-5280-49EE-9A97-13FBD007D6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8836361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DocSecurity>0</DocSecurity>
  <PresentationFormat>Personnalisé</PresentationFormat>
  <Paragraphs>65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montornes jeremi</cp:lastModifiedBy>
  <cp:revision>1</cp:revision>
  <dcterms:created xsi:type="dcterms:W3CDTF">2026-05-17T02:12:56Z</dcterms:created>
  <dcterms:modified xsi:type="dcterms:W3CDTF">2026-05-17T06:02:26Z</dcterms:modified>
</cp:coreProperties>
</file>